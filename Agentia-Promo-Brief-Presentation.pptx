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E10B6-1DFE-9FDD-AF0A-312727F94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31732-0AAF-2530-B606-30B875DC07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F4A62-C0F7-6ADD-6E18-1E2105C53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A49A-E24E-4BA3-AF03-35F3C7A3794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C5B02-136C-7043-01CF-30DB34CD3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15273-DB0D-EC11-EF7E-8AD7EC32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FA12-05E8-407A-AD3E-10B87FAB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03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12FE-EFB3-722D-F2E8-83B6E78ED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33BF4-93C9-44A6-0C12-0D9068ED3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99E88-E80F-42AE-6E12-46F049FA7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A49A-E24E-4BA3-AF03-35F3C7A3794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9D985-B7A2-8591-EE62-8A91057F1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D61D1-8081-23FA-03DE-669E4C2B1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FA12-05E8-407A-AD3E-10B87FAB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46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82949-F6F3-C44F-1819-5F33840B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BD0CB-6C9C-CA53-F764-B0D38D6CB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5DBB7-9CA2-0C6B-56E8-5B411E8CB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A49A-E24E-4BA3-AF03-35F3C7A3794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B7B49-0BDD-7FE7-1CD0-7081BA065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B3C52-868B-2894-39DC-446606F1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FA12-05E8-407A-AD3E-10B87FAB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807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11A2-7DEE-17C5-A78C-618214F7B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B967A-A267-7C6F-CBFD-3E3DD8A0F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7E47C-6CA7-3193-E231-06323E31D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C9C24-27F8-20FA-F9EF-67D89345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A49A-E24E-4BA3-AF03-35F3C7A3794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B0856-12A5-885E-F787-60D35E327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5B5EC-A4A0-4F12-0297-4D237D17E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FA12-05E8-407A-AD3E-10B87FAB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540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38102-657C-AE7E-49F6-09E2CD2A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64B96-7F0B-E3F2-486C-B6472BD70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F93D8-7C86-3026-8072-E443A2256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9F9576-B787-3B3D-DF34-5B17BE3A3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C84CA1-7BBC-4F1B-40F2-D82CFADA1C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8C60F7-9083-CF92-79DC-8821DF3CE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A49A-E24E-4BA3-AF03-35F3C7A3794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FB9258-99F5-DD78-80EC-C2F07944B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6265DD-B5DC-69CB-FDF0-930EE8909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FA12-05E8-407A-AD3E-10B87FAB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865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76F33-B66C-5BEE-6FCF-227A5760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1CA951-CF74-3DDD-A87C-CA99657E4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A49A-E24E-4BA3-AF03-35F3C7A3794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F538CB-6348-816A-3B0E-1B0094467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CD7E0-D32A-F884-DAB6-B4245CD23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FA12-05E8-407A-AD3E-10B87FAB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53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B2B021-362D-7CBC-83F2-8E48ED9BD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A49A-E24E-4BA3-AF03-35F3C7A3794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1C5FC-8189-97FB-0592-E9964F0C9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ABB5D-0213-37A5-31E6-F959452C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FA12-05E8-407A-AD3E-10B87FAB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207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E7ED-35B8-FD27-90CB-682FBA9BB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86836-C48A-8EA4-A336-20F88EC6B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9D325-1881-FC4A-D93A-1A598EC5A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CDBD9-038A-9E28-F3CB-77DADA0F2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A49A-E24E-4BA3-AF03-35F3C7A3794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2E45E-ADAC-42CE-6EB3-57224B9ED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DB1D5-ED86-AC39-BBE2-3F6185EDB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FA12-05E8-407A-AD3E-10B87FAB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410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FBC3-C0E6-BCAB-27E0-D756A1388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EEA264-CDFB-303B-2EA4-2D938AC8B19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0F830-C288-3323-712E-177F2F6DB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0A810-AD03-6166-8BD8-28F8DC42C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A49A-E24E-4BA3-AF03-35F3C7A3794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64AC5-3606-13E7-C923-B1ED1F773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835AC-14F9-AC28-E0B4-57978FFB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FA12-05E8-407A-AD3E-10B87FAB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952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1BDEC-879C-6842-A1E7-410323C4D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238A6-19A9-B9B2-2BB7-3CA2565B5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07167-C80A-355B-7E90-CC89975E7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A49A-E24E-4BA3-AF03-35F3C7A3794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BCF05-5B30-E261-D3FF-A798E4F08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0693F-2076-6109-36DA-9DDA80683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FA12-05E8-407A-AD3E-10B87FAB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065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A966D0-7C94-DAFB-0CD7-A0E8BB17D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EB908-18BF-285C-669A-BA95F0B66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E3DFF-D909-FD78-A8CC-3B359C00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A49A-E24E-4BA3-AF03-35F3C7A3794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1B452-862A-B6B6-25A3-808977DB6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81AD5-1CA8-78AC-5806-E409FE225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2FA12-05E8-407A-AD3E-10B87FAB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216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CDDD40-D08D-A0D5-C35F-BDF443465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3A585-6DB7-7002-EA68-5C93F4985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D8213-F047-C5C2-737B-286426D0C0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CA49A-E24E-4BA3-AF03-35F3C7A3794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39752-1BCD-C536-9435-AC150FC45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F9694-0F41-565E-D785-91EA099EF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42FA12-05E8-407A-AD3E-10B87FAB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283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ED8F91-D76B-A170-1830-B4DE73DA6010}"/>
              </a:ext>
            </a:extLst>
          </p:cNvPr>
          <p:cNvSpPr/>
          <p:nvPr/>
        </p:nvSpPr>
        <p:spPr>
          <a:xfrm>
            <a:off x="711200" y="762000"/>
            <a:ext cx="88900" cy="5080000"/>
          </a:xfrm>
          <a:prstGeom prst="rect">
            <a:avLst/>
          </a:prstGeom>
          <a:solidFill>
            <a:srgbClr val="38D6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78271-E9A3-A2CD-DAC8-F2219A22DF0E}"/>
              </a:ext>
            </a:extLst>
          </p:cNvPr>
          <p:cNvSpPr txBox="1"/>
          <p:nvPr/>
        </p:nvSpPr>
        <p:spPr>
          <a:xfrm>
            <a:off x="1117600" y="8636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100" b="1">
                <a:solidFill>
                  <a:srgbClr val="38D6C2"/>
                </a:solidFill>
                <a:latin typeface="Aptos" panose="020B0004020202020204" pitchFamily="34" charset="0"/>
              </a:rPr>
              <a:t>AGENTIA  /  PROMOTION READINESS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0DDE54-C3F2-BCC0-310A-560DC77A70F0}"/>
              </a:ext>
            </a:extLst>
          </p:cNvPr>
          <p:cNvSpPr txBox="1"/>
          <p:nvPr/>
        </p:nvSpPr>
        <p:spPr>
          <a:xfrm>
            <a:off x="1117600" y="16764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800" b="1" dirty="0">
                <a:latin typeface="Aptos" panose="020B0004020202020204" pitchFamily="34" charset="0"/>
              </a:rPr>
              <a:t>Make promotion risk
visible before release.</a:t>
            </a:r>
            <a:endParaRPr lang="en-IN" sz="3800" b="1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504C09-4896-43D2-5E6F-A45681F911C4}"/>
              </a:ext>
            </a:extLst>
          </p:cNvPr>
          <p:cNvSpPr txBox="1"/>
          <p:nvPr/>
        </p:nvSpPr>
        <p:spPr>
          <a:xfrm>
            <a:off x="1143000" y="3632200"/>
            <a:ext cx="863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dirty="0">
                <a:solidFill>
                  <a:schemeClr val="accent1"/>
                </a:solidFill>
                <a:latin typeface="Aptos" panose="020B0004020202020204" pitchFamily="34" charset="0"/>
              </a:rPr>
              <a:t>An explainable, agent-friendly readiness brief for Salesforce metadata promotions.</a:t>
            </a:r>
            <a:endParaRPr lang="en-IN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5C48D2-CF10-AF45-F66C-4901B15CAAAD}"/>
              </a:ext>
            </a:extLst>
          </p:cNvPr>
          <p:cNvSpPr/>
          <p:nvPr/>
        </p:nvSpPr>
        <p:spPr>
          <a:xfrm>
            <a:off x="1117600" y="4902200"/>
            <a:ext cx="8382000" cy="5334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F411B-5A8B-61F5-80E4-2A9D3D7330C1}"/>
              </a:ext>
            </a:extLst>
          </p:cNvPr>
          <p:cNvSpPr txBox="1"/>
          <p:nvPr/>
        </p:nvSpPr>
        <p:spPr>
          <a:xfrm>
            <a:off x="1333500" y="50800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000" b="1">
                <a:solidFill>
                  <a:srgbClr val="38D6C2"/>
                </a:solidFill>
                <a:latin typeface="Aptos" panose="020B0004020202020204" pitchFamily="34" charset="0"/>
              </a:rPr>
              <a:t>NORMALIZED JSON  ·  CONFIGURABLE RULES  ·  HUMAN DECISION</a:t>
            </a:r>
            <a:endParaRPr lang="en-IN" sz="1000" b="1">
              <a:solidFill>
                <a:srgbClr val="38D6C2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F05E2-76A2-D381-14DB-77EEA157895B}"/>
              </a:ext>
            </a:extLst>
          </p:cNvPr>
          <p:cNvSpPr txBox="1"/>
          <p:nvPr/>
        </p:nvSpPr>
        <p:spPr>
          <a:xfrm>
            <a:off x="1117600" y="61214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000">
                <a:solidFill>
                  <a:srgbClr val="8293AA"/>
                </a:solidFill>
                <a:latin typeface="Aptos" panose="020B0004020202020204" pitchFamily="34" charset="0"/>
              </a:rPr>
              <a:t>Product overview  /  October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370E5-AB47-B579-42B8-A9CA0B92810D}"/>
              </a:ext>
            </a:extLst>
          </p:cNvPr>
          <p:cNvSpPr txBox="1"/>
          <p:nvPr/>
        </p:nvSpPr>
        <p:spPr>
          <a:xfrm>
            <a:off x="8585200" y="6045200"/>
            <a:ext cx="289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IN" sz="1200" b="1">
                <a:solidFill>
                  <a:srgbClr val="F5F7FB"/>
                </a:solidFill>
                <a:latin typeface="Aptos" panose="020B0004020202020204" pitchFamily="34" charset="0"/>
              </a:rPr>
              <a:t>GO   /   REVIEW   /   HOLD</a:t>
            </a:r>
          </a:p>
        </p:txBody>
      </p:sp>
    </p:spTree>
    <p:extLst>
      <p:ext uri="{BB962C8B-B14F-4D97-AF65-F5344CB8AC3E}">
        <p14:creationId xmlns:p14="http://schemas.microsoft.com/office/powerpoint/2010/main" val="2679842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2D5E05-0DCD-B600-0BA5-A4FE8F1D9278}"/>
              </a:ext>
            </a:extLst>
          </p:cNvPr>
          <p:cNvSpPr txBox="1"/>
          <p:nvPr/>
        </p:nvSpPr>
        <p:spPr>
          <a:xfrm>
            <a:off x="711200" y="431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000" b="1">
                <a:solidFill>
                  <a:srgbClr val="38D6C2"/>
                </a:solidFill>
                <a:latin typeface="Aptos" panose="020B0004020202020204" pitchFamily="34" charset="0"/>
              </a:rPr>
              <a:t>THE RELEASE DECISION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26958A-9028-E323-A84C-4B1B8D23BFFA}"/>
              </a:ext>
            </a:extLst>
          </p:cNvPr>
          <p:cNvSpPr txBox="1"/>
          <p:nvPr/>
        </p:nvSpPr>
        <p:spPr>
          <a:xfrm>
            <a:off x="7112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latin typeface="Aptos" panose="020B0004020202020204" pitchFamily="34" charset="0"/>
              </a:rPr>
              <a:t>A promotion is more than a green test run.</a:t>
            </a:r>
            <a:endParaRPr lang="en-IN" sz="3000" b="1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829A4-BE0D-5D8F-98D3-190E51BCF95C}"/>
              </a:ext>
            </a:extLst>
          </p:cNvPr>
          <p:cNvSpPr txBox="1"/>
          <p:nvPr/>
        </p:nvSpPr>
        <p:spPr>
          <a:xfrm>
            <a:off x="711200" y="1676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Aptos" panose="020B0004020202020204" pitchFamily="34" charset="0"/>
              </a:rPr>
              <a:t>Metadata risk, execution evidence, and release context need to be considered together.</a:t>
            </a:r>
            <a:endParaRPr lang="en-IN" sz="1400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BA982-8DB0-01DC-46B4-E9B670BA2ED0}"/>
              </a:ext>
            </a:extLst>
          </p:cNvPr>
          <p:cNvSpPr/>
          <p:nvPr/>
        </p:nvSpPr>
        <p:spPr>
          <a:xfrm>
            <a:off x="711200" y="6413500"/>
            <a:ext cx="10769600" cy="12700"/>
          </a:xfrm>
          <a:prstGeom prst="rect">
            <a:avLst/>
          </a:prstGeom>
          <a:solidFill>
            <a:srgbClr val="3442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85F601-0C32-182F-6F3C-448DBAF65CAA}"/>
              </a:ext>
            </a:extLst>
          </p:cNvPr>
          <p:cNvSpPr txBox="1"/>
          <p:nvPr/>
        </p:nvSpPr>
        <p:spPr>
          <a:xfrm>
            <a:off x="711200" y="65278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800" b="1">
                <a:solidFill>
                  <a:srgbClr val="7F91AA"/>
                </a:solidFill>
                <a:latin typeface="Aptos" panose="020B0004020202020204" pitchFamily="34" charset="0"/>
              </a:rPr>
              <a:t>AGENTIA PROMO BRIEF  /  PROMOTION READINESS</a:t>
            </a:r>
            <a:endParaRPr lang="en-IN" sz="800" b="1">
              <a:solidFill>
                <a:srgbClr val="7F91AA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AA8FA0-C17C-2782-FBB1-B485C5270656}"/>
              </a:ext>
            </a:extLst>
          </p:cNvPr>
          <p:cNvSpPr txBox="1"/>
          <p:nvPr/>
        </p:nvSpPr>
        <p:spPr>
          <a:xfrm>
            <a:off x="11049000" y="65024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IN" sz="900" b="1">
                <a:solidFill>
                  <a:srgbClr val="7F91A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EF4AF0-FD54-D32D-5F4F-1A2052C2962E}"/>
              </a:ext>
            </a:extLst>
          </p:cNvPr>
          <p:cNvSpPr/>
          <p:nvPr/>
        </p:nvSpPr>
        <p:spPr>
          <a:xfrm>
            <a:off x="711200" y="2717800"/>
            <a:ext cx="3378200" cy="22225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58A9EC-FDE8-5DFF-D9E1-45A1A65C4405}"/>
              </a:ext>
            </a:extLst>
          </p:cNvPr>
          <p:cNvSpPr/>
          <p:nvPr/>
        </p:nvSpPr>
        <p:spPr>
          <a:xfrm>
            <a:off x="711200" y="2717800"/>
            <a:ext cx="63500" cy="2222500"/>
          </a:xfrm>
          <a:prstGeom prst="rect">
            <a:avLst/>
          </a:prstGeom>
          <a:solidFill>
            <a:srgbClr val="FF7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EBB0A5-6427-4B19-9A3B-3BB80F6CB943}"/>
              </a:ext>
            </a:extLst>
          </p:cNvPr>
          <p:cNvSpPr txBox="1"/>
          <p:nvPr/>
        </p:nvSpPr>
        <p:spPr>
          <a:xfrm>
            <a:off x="965200" y="29464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b="1">
                <a:solidFill>
                  <a:srgbClr val="F5F7FB"/>
                </a:solidFill>
                <a:latin typeface="Aptos" panose="020B0004020202020204" pitchFamily="34" charset="0"/>
              </a:rPr>
              <a:t>Change surface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211C60-4A7E-D1BC-E981-EC0E5A3023EC}"/>
              </a:ext>
            </a:extLst>
          </p:cNvPr>
          <p:cNvSpPr txBox="1"/>
          <p:nvPr/>
        </p:nvSpPr>
        <p:spPr>
          <a:xfrm>
            <a:off x="965200" y="34163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B8C4D7"/>
                </a:solidFill>
                <a:latin typeface="Aptos" panose="020B0004020202020204" pitchFamily="34" charset="0"/>
              </a:rPr>
              <a:t>Destructive metadata, access-control changes, and active automation can affect production in different ways.</a:t>
            </a:r>
            <a:endParaRPr lang="en-IN" sz="1300">
              <a:solidFill>
                <a:srgbClr val="B8C4D7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8A0616A-704F-8D92-55C8-D0613F998F1E}"/>
              </a:ext>
            </a:extLst>
          </p:cNvPr>
          <p:cNvSpPr/>
          <p:nvPr/>
        </p:nvSpPr>
        <p:spPr>
          <a:xfrm>
            <a:off x="4406900" y="2717800"/>
            <a:ext cx="3378200" cy="22225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DB4F2D-E6C7-CA46-573D-7144ECB1312F}"/>
              </a:ext>
            </a:extLst>
          </p:cNvPr>
          <p:cNvSpPr/>
          <p:nvPr/>
        </p:nvSpPr>
        <p:spPr>
          <a:xfrm>
            <a:off x="4406900" y="2717800"/>
            <a:ext cx="63500" cy="2222500"/>
          </a:xfrm>
          <a:prstGeom prst="rect">
            <a:avLst/>
          </a:prstGeom>
          <a:solidFill>
            <a:srgbClr val="F2B7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6D339C-700D-ED75-ADA1-A010992D6575}"/>
              </a:ext>
            </a:extLst>
          </p:cNvPr>
          <p:cNvSpPr txBox="1"/>
          <p:nvPr/>
        </p:nvSpPr>
        <p:spPr>
          <a:xfrm>
            <a:off x="4660900" y="29464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b="1">
                <a:solidFill>
                  <a:srgbClr val="F5F7FB"/>
                </a:solidFill>
                <a:latin typeface="Aptos" panose="020B0004020202020204" pitchFamily="34" charset="0"/>
              </a:rPr>
              <a:t>Test signal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F6BDD3-2234-6FC6-C351-2E23168CBCAA}"/>
              </a:ext>
            </a:extLst>
          </p:cNvPr>
          <p:cNvSpPr txBox="1"/>
          <p:nvPr/>
        </p:nvSpPr>
        <p:spPr>
          <a:xfrm>
            <a:off x="4660900" y="34163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B8C4D7"/>
                </a:solidFill>
                <a:latin typeface="Aptos" panose="020B0004020202020204" pitchFamily="34" charset="0"/>
              </a:rPr>
              <a:t>Passing tests are important—but they do not tell the whole story about permissions or live behavior.</a:t>
            </a:r>
            <a:endParaRPr lang="en-IN" sz="1300">
              <a:solidFill>
                <a:srgbClr val="B8C4D7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944ED92-8908-80B1-E676-6E3D38F50F90}"/>
              </a:ext>
            </a:extLst>
          </p:cNvPr>
          <p:cNvSpPr/>
          <p:nvPr/>
        </p:nvSpPr>
        <p:spPr>
          <a:xfrm>
            <a:off x="8102600" y="2717800"/>
            <a:ext cx="3378200" cy="22225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A73E97-9C7D-29D8-5FEC-1D8E9DD0A20C}"/>
              </a:ext>
            </a:extLst>
          </p:cNvPr>
          <p:cNvSpPr/>
          <p:nvPr/>
        </p:nvSpPr>
        <p:spPr>
          <a:xfrm>
            <a:off x="8102600" y="2717800"/>
            <a:ext cx="63500" cy="2222500"/>
          </a:xfrm>
          <a:prstGeom prst="rect">
            <a:avLst/>
          </a:prstGeom>
          <a:solidFill>
            <a:srgbClr val="38D6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2E05B4-DD19-0D34-AFB5-A65514CDB7AE}"/>
              </a:ext>
            </a:extLst>
          </p:cNvPr>
          <p:cNvSpPr txBox="1"/>
          <p:nvPr/>
        </p:nvSpPr>
        <p:spPr>
          <a:xfrm>
            <a:off x="8356600" y="29464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b="1">
                <a:solidFill>
                  <a:srgbClr val="F5F7FB"/>
                </a:solidFill>
                <a:latin typeface="Aptos" panose="020B0004020202020204" pitchFamily="34" charset="0"/>
              </a:rPr>
              <a:t>Decision context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FC229F-0AF6-4363-3B7B-581339B48609}"/>
              </a:ext>
            </a:extLst>
          </p:cNvPr>
          <p:cNvSpPr txBox="1"/>
          <p:nvPr/>
        </p:nvSpPr>
        <p:spPr>
          <a:xfrm>
            <a:off x="8356600" y="34163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B8C4D7"/>
                </a:solidFill>
                <a:latin typeface="Aptos" panose="020B0004020202020204" pitchFamily="34" charset="0"/>
              </a:rPr>
              <a:t>Reviewers need direct evidence and consistent rules, not a black-box score or an automatic approval.</a:t>
            </a:r>
            <a:endParaRPr lang="en-IN" sz="1300">
              <a:solidFill>
                <a:srgbClr val="B8C4D7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3B4D1B-3BD8-EBA4-59DA-8B85EC969C2C}"/>
              </a:ext>
            </a:extLst>
          </p:cNvPr>
          <p:cNvSpPr txBox="1"/>
          <p:nvPr/>
        </p:nvSpPr>
        <p:spPr>
          <a:xfrm>
            <a:off x="711200" y="5651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700" b="1" dirty="0">
                <a:solidFill>
                  <a:schemeClr val="accent1"/>
                </a:solidFill>
                <a:latin typeface="Aptos" panose="020B0004020202020204" pitchFamily="34" charset="0"/>
              </a:rPr>
              <a:t>The goal: bring explainable evidence to the human decision point.</a:t>
            </a:r>
            <a:endParaRPr lang="en-IN" sz="1700" b="1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359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3110CF-25D6-2BF0-7B60-FF13D285C0A4}"/>
              </a:ext>
            </a:extLst>
          </p:cNvPr>
          <p:cNvSpPr txBox="1"/>
          <p:nvPr/>
        </p:nvSpPr>
        <p:spPr>
          <a:xfrm>
            <a:off x="711200" y="431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000" b="1">
                <a:solidFill>
                  <a:srgbClr val="38D6C2"/>
                </a:solidFill>
                <a:latin typeface="Aptos" panose="020B0004020202020204" pitchFamily="34" charset="0"/>
              </a:rPr>
              <a:t>THE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4321F-9855-6A95-1767-706532711607}"/>
              </a:ext>
            </a:extLst>
          </p:cNvPr>
          <p:cNvSpPr txBox="1"/>
          <p:nvPr/>
        </p:nvSpPr>
        <p:spPr>
          <a:xfrm>
            <a:off x="7112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dirty="0">
                <a:latin typeface="Aptos" panose="020B0004020202020204" pitchFamily="34" charset="0"/>
              </a:rPr>
              <a:t>A small, inspectable path from snapshot to decision.</a:t>
            </a:r>
            <a:endParaRPr lang="en-IN" sz="3000" b="1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9CB707-F455-02C4-95A5-156FD1589830}"/>
              </a:ext>
            </a:extLst>
          </p:cNvPr>
          <p:cNvSpPr txBox="1"/>
          <p:nvPr/>
        </p:nvSpPr>
        <p:spPr>
          <a:xfrm>
            <a:off x="711200" y="1676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Aptos" panose="020B0004020202020204" pitchFamily="34" charset="0"/>
              </a:rPr>
              <a:t>Each finding names the rule, component, evidence, and why it matters.</a:t>
            </a:r>
            <a:endParaRPr lang="en-IN" sz="1400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0B05CF-F869-C0DC-E9C6-208B53E64869}"/>
              </a:ext>
            </a:extLst>
          </p:cNvPr>
          <p:cNvSpPr/>
          <p:nvPr/>
        </p:nvSpPr>
        <p:spPr>
          <a:xfrm>
            <a:off x="711200" y="6413500"/>
            <a:ext cx="10769600" cy="12700"/>
          </a:xfrm>
          <a:prstGeom prst="rect">
            <a:avLst/>
          </a:prstGeom>
          <a:solidFill>
            <a:srgbClr val="3442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58B1CA-AAA1-E7F0-34F0-5F55A7FB36E2}"/>
              </a:ext>
            </a:extLst>
          </p:cNvPr>
          <p:cNvSpPr txBox="1"/>
          <p:nvPr/>
        </p:nvSpPr>
        <p:spPr>
          <a:xfrm>
            <a:off x="711200" y="65278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800" b="1">
                <a:solidFill>
                  <a:srgbClr val="7F91AA"/>
                </a:solidFill>
                <a:latin typeface="Aptos" panose="020B0004020202020204" pitchFamily="34" charset="0"/>
              </a:rPr>
              <a:t>AGENTIA PROMO BRIEF  /  PROMOTION READINESS</a:t>
            </a:r>
            <a:endParaRPr lang="en-IN" sz="800" b="1">
              <a:solidFill>
                <a:srgbClr val="7F91AA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171014-5AA7-AD52-65F8-2DF293E5ED92}"/>
              </a:ext>
            </a:extLst>
          </p:cNvPr>
          <p:cNvSpPr txBox="1"/>
          <p:nvPr/>
        </p:nvSpPr>
        <p:spPr>
          <a:xfrm>
            <a:off x="11049000" y="65024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IN" sz="900" b="1">
                <a:solidFill>
                  <a:srgbClr val="7F91AA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187554-2ADF-EB6A-B3EB-CC825C54FA76}"/>
              </a:ext>
            </a:extLst>
          </p:cNvPr>
          <p:cNvSpPr/>
          <p:nvPr/>
        </p:nvSpPr>
        <p:spPr>
          <a:xfrm>
            <a:off x="711200" y="2946400"/>
            <a:ext cx="2387600" cy="19558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610B38-8FE4-CBCA-4509-BAD688C5AE96}"/>
              </a:ext>
            </a:extLst>
          </p:cNvPr>
          <p:cNvSpPr txBox="1"/>
          <p:nvPr/>
        </p:nvSpPr>
        <p:spPr>
          <a:xfrm>
            <a:off x="927100" y="31623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200" b="1">
                <a:solidFill>
                  <a:srgbClr val="38D6C2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BB2FC3-0515-A31F-0451-C1410B85AFB0}"/>
              </a:ext>
            </a:extLst>
          </p:cNvPr>
          <p:cNvSpPr txBox="1"/>
          <p:nvPr/>
        </p:nvSpPr>
        <p:spPr>
          <a:xfrm>
            <a:off x="927100" y="35560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900" b="1">
                <a:solidFill>
                  <a:srgbClr val="F5F7FB"/>
                </a:solidFill>
                <a:latin typeface="Aptos" panose="020B0004020202020204" pitchFamily="34" charset="0"/>
              </a:rPr>
              <a:t>Snapshot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FB40BC-95A2-8E32-ED2D-3C37BED56C43}"/>
              </a:ext>
            </a:extLst>
          </p:cNvPr>
          <p:cNvSpPr txBox="1"/>
          <p:nvPr/>
        </p:nvSpPr>
        <p:spPr>
          <a:xfrm>
            <a:off x="927100" y="40767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AEBBD0"/>
                </a:solidFill>
                <a:latin typeface="Aptos" panose="020B0004020202020204" pitchFamily="34" charset="0"/>
              </a:rPr>
              <a:t>Normalized promotion JSON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9836B2-E35D-D9D2-CE73-520F1C63C55A}"/>
              </a:ext>
            </a:extLst>
          </p:cNvPr>
          <p:cNvSpPr/>
          <p:nvPr/>
        </p:nvSpPr>
        <p:spPr>
          <a:xfrm>
            <a:off x="3175000" y="3835400"/>
            <a:ext cx="304800" cy="25400"/>
          </a:xfrm>
          <a:prstGeom prst="rect">
            <a:avLst/>
          </a:prstGeom>
          <a:solidFill>
            <a:srgbClr val="38D6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87D0E4-F268-65D2-2763-96C508BE68BC}"/>
              </a:ext>
            </a:extLst>
          </p:cNvPr>
          <p:cNvSpPr/>
          <p:nvPr/>
        </p:nvSpPr>
        <p:spPr>
          <a:xfrm>
            <a:off x="3429000" y="3784600"/>
            <a:ext cx="101600" cy="101600"/>
          </a:xfrm>
          <a:prstGeom prst="ellipse">
            <a:avLst/>
          </a:prstGeom>
          <a:solidFill>
            <a:srgbClr val="38D6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753CFD8-945D-459B-41D5-F1A2E4AF60CE}"/>
              </a:ext>
            </a:extLst>
          </p:cNvPr>
          <p:cNvSpPr/>
          <p:nvPr/>
        </p:nvSpPr>
        <p:spPr>
          <a:xfrm>
            <a:off x="3505200" y="2946400"/>
            <a:ext cx="2387600" cy="19558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FFA12C-3DDA-EFFA-D571-7946654FDAF5}"/>
              </a:ext>
            </a:extLst>
          </p:cNvPr>
          <p:cNvSpPr txBox="1"/>
          <p:nvPr/>
        </p:nvSpPr>
        <p:spPr>
          <a:xfrm>
            <a:off x="3721100" y="31623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200" b="1">
                <a:solidFill>
                  <a:srgbClr val="38D6C2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C3CA07-3236-970D-E952-DBD962C34D22}"/>
              </a:ext>
            </a:extLst>
          </p:cNvPr>
          <p:cNvSpPr txBox="1"/>
          <p:nvPr/>
        </p:nvSpPr>
        <p:spPr>
          <a:xfrm>
            <a:off x="3721100" y="35560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900" b="1">
                <a:solidFill>
                  <a:srgbClr val="F5F7FB"/>
                </a:solidFill>
                <a:latin typeface="Aptos" panose="020B0004020202020204" pitchFamily="34" charset="0"/>
              </a:rPr>
              <a:t>Evaluate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F0791D-1EAB-3ADC-6279-F66948A00991}"/>
              </a:ext>
            </a:extLst>
          </p:cNvPr>
          <p:cNvSpPr txBox="1"/>
          <p:nvPr/>
        </p:nvSpPr>
        <p:spPr>
          <a:xfrm>
            <a:off x="3721100" y="40767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300">
                <a:solidFill>
                  <a:srgbClr val="AEBBD0"/>
                </a:solidFill>
                <a:latin typeface="Aptos" panose="020B0004020202020204" pitchFamily="34" charset="0"/>
              </a:rPr>
              <a:t>YAML-configured checks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754A9C-B602-02CC-1E91-E6781EFFD59D}"/>
              </a:ext>
            </a:extLst>
          </p:cNvPr>
          <p:cNvSpPr/>
          <p:nvPr/>
        </p:nvSpPr>
        <p:spPr>
          <a:xfrm>
            <a:off x="5969000" y="3835400"/>
            <a:ext cx="304800" cy="25400"/>
          </a:xfrm>
          <a:prstGeom prst="rect">
            <a:avLst/>
          </a:prstGeom>
          <a:solidFill>
            <a:srgbClr val="38D6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11C84E8-71EC-D383-DB2E-730139E29FDC}"/>
              </a:ext>
            </a:extLst>
          </p:cNvPr>
          <p:cNvSpPr/>
          <p:nvPr/>
        </p:nvSpPr>
        <p:spPr>
          <a:xfrm>
            <a:off x="6223000" y="3784600"/>
            <a:ext cx="101600" cy="101600"/>
          </a:xfrm>
          <a:prstGeom prst="ellipse">
            <a:avLst/>
          </a:prstGeom>
          <a:solidFill>
            <a:srgbClr val="38D6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1A2B496-FB00-3B18-4928-03C82C7FAD88}"/>
              </a:ext>
            </a:extLst>
          </p:cNvPr>
          <p:cNvSpPr/>
          <p:nvPr/>
        </p:nvSpPr>
        <p:spPr>
          <a:xfrm>
            <a:off x="6299200" y="2946400"/>
            <a:ext cx="2387600" cy="19558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84067E-42D6-E18D-7F86-820A02062B2B}"/>
              </a:ext>
            </a:extLst>
          </p:cNvPr>
          <p:cNvSpPr txBox="1"/>
          <p:nvPr/>
        </p:nvSpPr>
        <p:spPr>
          <a:xfrm>
            <a:off x="6515100" y="31623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200" b="1">
                <a:solidFill>
                  <a:srgbClr val="38D6C2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98D6E0-8797-8E1E-C34A-3A91C76DEDBF}"/>
              </a:ext>
            </a:extLst>
          </p:cNvPr>
          <p:cNvSpPr txBox="1"/>
          <p:nvPr/>
        </p:nvSpPr>
        <p:spPr>
          <a:xfrm>
            <a:off x="6515100" y="35560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900" b="1">
                <a:solidFill>
                  <a:srgbClr val="F5F7FB"/>
                </a:solidFill>
                <a:latin typeface="Aptos" panose="020B0004020202020204" pitchFamily="34" charset="0"/>
              </a:rPr>
              <a:t>Explain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EA9C1B-9723-C70C-B929-7396F2157FB8}"/>
              </a:ext>
            </a:extLst>
          </p:cNvPr>
          <p:cNvSpPr txBox="1"/>
          <p:nvPr/>
        </p:nvSpPr>
        <p:spPr>
          <a:xfrm>
            <a:off x="6515100" y="40767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300">
                <a:solidFill>
                  <a:srgbClr val="AEBBD0"/>
                </a:solidFill>
                <a:latin typeface="Aptos" panose="020B0004020202020204" pitchFamily="34" charset="0"/>
              </a:rPr>
              <a:t>Markdown brief or JSON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331B4A-4A70-CB17-CB61-2C88AB511C98}"/>
              </a:ext>
            </a:extLst>
          </p:cNvPr>
          <p:cNvSpPr/>
          <p:nvPr/>
        </p:nvSpPr>
        <p:spPr>
          <a:xfrm>
            <a:off x="8763000" y="3835400"/>
            <a:ext cx="304800" cy="25400"/>
          </a:xfrm>
          <a:prstGeom prst="rect">
            <a:avLst/>
          </a:prstGeom>
          <a:solidFill>
            <a:srgbClr val="38D6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4ED91DD-EF39-8C82-DE11-BDD29AF0A030}"/>
              </a:ext>
            </a:extLst>
          </p:cNvPr>
          <p:cNvSpPr/>
          <p:nvPr/>
        </p:nvSpPr>
        <p:spPr>
          <a:xfrm>
            <a:off x="9017000" y="3784600"/>
            <a:ext cx="101600" cy="101600"/>
          </a:xfrm>
          <a:prstGeom prst="ellipse">
            <a:avLst/>
          </a:prstGeom>
          <a:solidFill>
            <a:srgbClr val="38D6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718654B-CDAD-3024-3F38-85CFF7005C0D}"/>
              </a:ext>
            </a:extLst>
          </p:cNvPr>
          <p:cNvSpPr/>
          <p:nvPr/>
        </p:nvSpPr>
        <p:spPr>
          <a:xfrm>
            <a:off x="9093200" y="2946400"/>
            <a:ext cx="2387600" cy="19558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328530-3B00-3D5C-59B6-52F75AFC704F}"/>
              </a:ext>
            </a:extLst>
          </p:cNvPr>
          <p:cNvSpPr txBox="1"/>
          <p:nvPr/>
        </p:nvSpPr>
        <p:spPr>
          <a:xfrm>
            <a:off x="9309100" y="31623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200" b="1">
                <a:solidFill>
                  <a:srgbClr val="38D6C2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C31FE8-63D3-F0C7-51C9-FCABA739C1FA}"/>
              </a:ext>
            </a:extLst>
          </p:cNvPr>
          <p:cNvSpPr txBox="1"/>
          <p:nvPr/>
        </p:nvSpPr>
        <p:spPr>
          <a:xfrm>
            <a:off x="9309100" y="35560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900" b="1">
                <a:solidFill>
                  <a:srgbClr val="F5F7FB"/>
                </a:solidFill>
                <a:latin typeface="Aptos" panose="020B0004020202020204" pitchFamily="34" charset="0"/>
              </a:rPr>
              <a:t>Decide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E23D85-730A-F8E5-776A-B4C71BEF6D03}"/>
              </a:ext>
            </a:extLst>
          </p:cNvPr>
          <p:cNvSpPr txBox="1"/>
          <p:nvPr/>
        </p:nvSpPr>
        <p:spPr>
          <a:xfrm>
            <a:off x="9309100" y="40767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AEBBD0"/>
                </a:solidFill>
                <a:latin typeface="Aptos" panose="020B0004020202020204" pitchFamily="34" charset="0"/>
              </a:rPr>
              <a:t>Human review and approval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EDADD18-26C1-628D-A28F-3C4CED6306D2}"/>
              </a:ext>
            </a:extLst>
          </p:cNvPr>
          <p:cNvSpPr/>
          <p:nvPr/>
        </p:nvSpPr>
        <p:spPr>
          <a:xfrm>
            <a:off x="711200" y="5321300"/>
            <a:ext cx="10769600" cy="622300"/>
          </a:xfrm>
          <a:prstGeom prst="roundRect">
            <a:avLst/>
          </a:prstGeom>
          <a:solidFill>
            <a:srgbClr val="1C2F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BDE021-06BA-0A42-4F4C-F04DEB2AF91D}"/>
              </a:ext>
            </a:extLst>
          </p:cNvPr>
          <p:cNvSpPr txBox="1"/>
          <p:nvPr/>
        </p:nvSpPr>
        <p:spPr>
          <a:xfrm>
            <a:off x="965200" y="54864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400" b="1">
                <a:solidFill>
                  <a:srgbClr val="38D6C2"/>
                </a:solidFill>
                <a:latin typeface="Aptos" panose="020B0004020202020204" pitchFamily="34" charset="0"/>
              </a:rPr>
              <a:t>The CLI does not deploy. It prepares an evidence-backed brief for established release controls.</a:t>
            </a:r>
            <a:endParaRPr lang="en-IN" sz="1400" b="1">
              <a:solidFill>
                <a:srgbClr val="38D6C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29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957A6A-9431-D9FF-D150-61B4989D0485}"/>
              </a:ext>
            </a:extLst>
          </p:cNvPr>
          <p:cNvSpPr txBox="1"/>
          <p:nvPr/>
        </p:nvSpPr>
        <p:spPr>
          <a:xfrm>
            <a:off x="711200" y="431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000" b="1">
                <a:solidFill>
                  <a:srgbClr val="38D6C2"/>
                </a:solidFill>
                <a:latin typeface="Aptos" panose="020B0004020202020204" pitchFamily="34" charset="0"/>
              </a:rPr>
              <a:t>INPUT → OUTPUT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CA23B9-FB6E-7BD4-6E2D-5D800A1BF285}"/>
              </a:ext>
            </a:extLst>
          </p:cNvPr>
          <p:cNvSpPr txBox="1"/>
          <p:nvPr/>
        </p:nvSpPr>
        <p:spPr>
          <a:xfrm>
            <a:off x="7112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000" b="1" dirty="0">
                <a:latin typeface="Aptos" panose="020B0004020202020204" pitchFamily="34" charset="0"/>
              </a:rPr>
              <a:t>Structured input. Traceable output.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E0BFCF-4B91-8573-10E8-0CF15FF8E98D}"/>
              </a:ext>
            </a:extLst>
          </p:cNvPr>
          <p:cNvSpPr txBox="1"/>
          <p:nvPr/>
        </p:nvSpPr>
        <p:spPr>
          <a:xfrm>
            <a:off x="711200" y="1676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Aptos" panose="020B0004020202020204" pitchFamily="34" charset="0"/>
              </a:rPr>
              <a:t>The MVP expects a trusted, normalized snapshot; it does not fetch promotion data itself.</a:t>
            </a:r>
            <a:endParaRPr lang="en-IN" sz="1400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750B9D-2962-1CC5-A741-94A432981C99}"/>
              </a:ext>
            </a:extLst>
          </p:cNvPr>
          <p:cNvSpPr/>
          <p:nvPr/>
        </p:nvSpPr>
        <p:spPr>
          <a:xfrm>
            <a:off x="711200" y="6413500"/>
            <a:ext cx="10769600" cy="12700"/>
          </a:xfrm>
          <a:prstGeom prst="rect">
            <a:avLst/>
          </a:prstGeom>
          <a:solidFill>
            <a:srgbClr val="3442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2E925F-AC09-1655-5D87-F3CB92F609AD}"/>
              </a:ext>
            </a:extLst>
          </p:cNvPr>
          <p:cNvSpPr txBox="1"/>
          <p:nvPr/>
        </p:nvSpPr>
        <p:spPr>
          <a:xfrm>
            <a:off x="711200" y="65278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800" b="1">
                <a:solidFill>
                  <a:srgbClr val="7F91AA"/>
                </a:solidFill>
                <a:latin typeface="Aptos" panose="020B0004020202020204" pitchFamily="34" charset="0"/>
              </a:rPr>
              <a:t>AGENTIA PROMO BRIEF  /  PROMOTION READINESS</a:t>
            </a:r>
            <a:endParaRPr lang="en-IN" sz="800" b="1">
              <a:solidFill>
                <a:srgbClr val="7F91AA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81B586-8397-2AFD-9B04-7BCE94B611D2}"/>
              </a:ext>
            </a:extLst>
          </p:cNvPr>
          <p:cNvSpPr txBox="1"/>
          <p:nvPr/>
        </p:nvSpPr>
        <p:spPr>
          <a:xfrm>
            <a:off x="11049000" y="65024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IN" sz="900" b="1">
                <a:solidFill>
                  <a:srgbClr val="7F91AA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803723-B1E6-379A-6487-ED3747F5F844}"/>
              </a:ext>
            </a:extLst>
          </p:cNvPr>
          <p:cNvSpPr/>
          <p:nvPr/>
        </p:nvSpPr>
        <p:spPr>
          <a:xfrm>
            <a:off x="711200" y="2667000"/>
            <a:ext cx="5105400" cy="32131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4E779D-ED92-CEFD-94B6-166346342FDC}"/>
              </a:ext>
            </a:extLst>
          </p:cNvPr>
          <p:cNvSpPr txBox="1"/>
          <p:nvPr/>
        </p:nvSpPr>
        <p:spPr>
          <a:xfrm>
            <a:off x="990600" y="29337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100" b="1">
                <a:solidFill>
                  <a:srgbClr val="38D6C2"/>
                </a:solidFill>
                <a:latin typeface="Aptos" panose="020B0004020202020204" pitchFamily="34" charset="0"/>
              </a:rPr>
              <a:t>SNAPSHOT INPUT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6D9887-EB39-3076-8A64-6C30B0C66142}"/>
              </a:ext>
            </a:extLst>
          </p:cNvPr>
          <p:cNvSpPr txBox="1"/>
          <p:nvPr/>
        </p:nvSpPr>
        <p:spPr>
          <a:xfrm>
            <a:off x="990600" y="3479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F5F7FB"/>
                </a:solidFill>
                <a:latin typeface="Aptos" panose="020B0004020202020204" pitchFamily="34" charset="0"/>
              </a:rPr>
              <a:t>promotionId  ·  name  ·  source  ·  target
components[]  ·  type  ·  name  ·  action
active  ·  testsFor
tests.status  ·  passed  ·  failed  ·  total</a:t>
            </a:r>
            <a:endParaRPr lang="en-IN" sz="1600">
              <a:solidFill>
                <a:srgbClr val="F5F7FB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FF7B49-E51C-005D-968A-BC5309B04874}"/>
              </a:ext>
            </a:extLst>
          </p:cNvPr>
          <p:cNvSpPr/>
          <p:nvPr/>
        </p:nvSpPr>
        <p:spPr>
          <a:xfrm>
            <a:off x="6070600" y="2667000"/>
            <a:ext cx="5410200" cy="32131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BE3571-7C96-0EED-6BE5-BFA781DEC972}"/>
              </a:ext>
            </a:extLst>
          </p:cNvPr>
          <p:cNvSpPr txBox="1"/>
          <p:nvPr/>
        </p:nvSpPr>
        <p:spPr>
          <a:xfrm>
            <a:off x="6350000" y="29337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100" b="1">
                <a:solidFill>
                  <a:srgbClr val="F2B75D"/>
                </a:solidFill>
                <a:latin typeface="Aptos" panose="020B0004020202020204" pitchFamily="34" charset="0"/>
              </a:rPr>
              <a:t>READINESS BRIEF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EBC9C1-ECD2-E02C-E84E-79743B8D2A2B}"/>
              </a:ext>
            </a:extLst>
          </p:cNvPr>
          <p:cNvSpPr txBox="1"/>
          <p:nvPr/>
        </p:nvSpPr>
        <p:spPr>
          <a:xfrm>
            <a:off x="6350000" y="3479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F5F7FB"/>
                </a:solidFill>
                <a:latin typeface="Aptos" panose="020B0004020202020204" pitchFamily="34" charset="0"/>
              </a:rPr>
              <a:t>verdict  ·  go / review / hold
riskScore  ·  weighted flag total
flags[]  ·  ruleId  ·  severity
component  ·  evidence  ·  whyItMatters</a:t>
            </a:r>
            <a:endParaRPr lang="en-IN" sz="1600">
              <a:solidFill>
                <a:srgbClr val="F5F7FB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C51458-FA15-D740-DCBE-E23C8B690FA4}"/>
              </a:ext>
            </a:extLst>
          </p:cNvPr>
          <p:cNvSpPr txBox="1"/>
          <p:nvPr/>
        </p:nvSpPr>
        <p:spPr>
          <a:xfrm>
            <a:off x="711200" y="60833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300" dirty="0">
                <a:solidFill>
                  <a:schemeClr val="accent1"/>
                </a:solidFill>
                <a:latin typeface="Aptos" panose="020B0004020202020204" pitchFamily="34" charset="0"/>
              </a:rPr>
              <a:t>Missing or incomplete test data raises a review flag—it is never treated as a pass.</a:t>
            </a:r>
            <a:endParaRPr lang="en-IN" sz="1300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236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C2BB3A-F90F-1988-653B-52E174858A30}"/>
              </a:ext>
            </a:extLst>
          </p:cNvPr>
          <p:cNvSpPr txBox="1"/>
          <p:nvPr/>
        </p:nvSpPr>
        <p:spPr>
          <a:xfrm>
            <a:off x="711200" y="431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000" b="1">
                <a:solidFill>
                  <a:srgbClr val="38D6C2"/>
                </a:solidFill>
                <a:latin typeface="Aptos" panose="020B0004020202020204" pitchFamily="34" charset="0"/>
              </a:rPr>
              <a:t>DEFAULT CHECKS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E76689-9D55-FFB7-8F90-8E59F67F969F}"/>
              </a:ext>
            </a:extLst>
          </p:cNvPr>
          <p:cNvSpPr txBox="1"/>
          <p:nvPr/>
        </p:nvSpPr>
        <p:spPr>
          <a:xfrm>
            <a:off x="7112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dirty="0">
                <a:latin typeface="Aptos" panose="020B0004020202020204" pitchFamily="34" charset="0"/>
              </a:rPr>
              <a:t>Six rules focus attention on common promotion risks.</a:t>
            </a:r>
            <a:endParaRPr lang="en-IN" sz="3000" b="1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346145-0F59-0A09-F8EE-2A1DB743D362}"/>
              </a:ext>
            </a:extLst>
          </p:cNvPr>
          <p:cNvSpPr txBox="1"/>
          <p:nvPr/>
        </p:nvSpPr>
        <p:spPr>
          <a:xfrm>
            <a:off x="711200" y="1676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Aptos" panose="020B0004020202020204" pitchFamily="34" charset="0"/>
              </a:rPr>
              <a:t>Severity and weight are configurable; defaults are examples to validate against local policy.</a:t>
            </a:r>
            <a:endParaRPr lang="en-IN" sz="1400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B31BA-C566-4CC2-70F0-01E57EB170C1}"/>
              </a:ext>
            </a:extLst>
          </p:cNvPr>
          <p:cNvSpPr/>
          <p:nvPr/>
        </p:nvSpPr>
        <p:spPr>
          <a:xfrm>
            <a:off x="711200" y="6413500"/>
            <a:ext cx="10769600" cy="12700"/>
          </a:xfrm>
          <a:prstGeom prst="rect">
            <a:avLst/>
          </a:prstGeom>
          <a:solidFill>
            <a:srgbClr val="3442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BBC2A0-4106-0AD4-7F43-3B955ED1A68E}"/>
              </a:ext>
            </a:extLst>
          </p:cNvPr>
          <p:cNvSpPr txBox="1"/>
          <p:nvPr/>
        </p:nvSpPr>
        <p:spPr>
          <a:xfrm>
            <a:off x="711200" y="65278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800" b="1">
                <a:solidFill>
                  <a:srgbClr val="7F91AA"/>
                </a:solidFill>
                <a:latin typeface="Aptos" panose="020B0004020202020204" pitchFamily="34" charset="0"/>
              </a:rPr>
              <a:t>AGENTIA PROMO BRIEF  /  PROMOTION READINESS</a:t>
            </a:r>
            <a:endParaRPr lang="en-IN" sz="800" b="1">
              <a:solidFill>
                <a:srgbClr val="7F91AA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33E7F3-A51B-05CF-A690-96497BC9FB15}"/>
              </a:ext>
            </a:extLst>
          </p:cNvPr>
          <p:cNvSpPr txBox="1"/>
          <p:nvPr/>
        </p:nvSpPr>
        <p:spPr>
          <a:xfrm>
            <a:off x="11049000" y="65024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IN" sz="900" b="1">
                <a:solidFill>
                  <a:srgbClr val="7F91AA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0A8F21-ACAB-F2FE-E09D-F0EA99911BF5}"/>
              </a:ext>
            </a:extLst>
          </p:cNvPr>
          <p:cNvSpPr/>
          <p:nvPr/>
        </p:nvSpPr>
        <p:spPr>
          <a:xfrm>
            <a:off x="711200" y="2628900"/>
            <a:ext cx="5105400" cy="9144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8B1EF6-4B7B-58AB-7284-B0E17DAF9B56}"/>
              </a:ext>
            </a:extLst>
          </p:cNvPr>
          <p:cNvSpPr txBox="1"/>
          <p:nvPr/>
        </p:nvSpPr>
        <p:spPr>
          <a:xfrm>
            <a:off x="901700" y="27813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900" b="1">
                <a:solidFill>
                  <a:srgbClr val="FF7A78"/>
                </a:solidFill>
                <a:latin typeface="Aptos" panose="020B0004020202020204" pitchFamily="34" charset="0"/>
              </a:rPr>
              <a:t>CRITICAL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A583A5-095E-1592-31AB-E5C2D83D0022}"/>
              </a:ext>
            </a:extLst>
          </p:cNvPr>
          <p:cNvSpPr txBox="1"/>
          <p:nvPr/>
        </p:nvSpPr>
        <p:spPr>
          <a:xfrm>
            <a:off x="2120900" y="27559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500" b="1">
                <a:solidFill>
                  <a:srgbClr val="F5F7FB"/>
                </a:solidFill>
                <a:latin typeface="Aptos" panose="020B0004020202020204" pitchFamily="34" charset="0"/>
              </a:rPr>
              <a:t>Destructive change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4D467-41D2-9168-7127-98AD47742D0C}"/>
              </a:ext>
            </a:extLst>
          </p:cNvPr>
          <p:cNvSpPr txBox="1"/>
          <p:nvPr/>
        </p:nvSpPr>
        <p:spPr>
          <a:xfrm>
            <a:off x="2120900" y="31115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100">
                <a:solidFill>
                  <a:srgbClr val="AEBBD0"/>
                </a:solidFill>
                <a:latin typeface="Aptos" panose="020B0004020202020204" pitchFamily="34" charset="0"/>
              </a:rPr>
              <a:t>Delete / remove metadata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9135D8-306D-1AD9-B1F8-DC20B1084248}"/>
              </a:ext>
            </a:extLst>
          </p:cNvPr>
          <p:cNvSpPr/>
          <p:nvPr/>
        </p:nvSpPr>
        <p:spPr>
          <a:xfrm>
            <a:off x="6172200" y="2628900"/>
            <a:ext cx="5105400" cy="9144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1F4A68-30EC-F856-4C88-B7E58DE59DA7}"/>
              </a:ext>
            </a:extLst>
          </p:cNvPr>
          <p:cNvSpPr txBox="1"/>
          <p:nvPr/>
        </p:nvSpPr>
        <p:spPr>
          <a:xfrm>
            <a:off x="6362700" y="27813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900" b="1">
                <a:solidFill>
                  <a:srgbClr val="FF7A78"/>
                </a:solidFill>
                <a:latin typeface="Aptos" panose="020B0004020202020204" pitchFamily="34" charset="0"/>
              </a:rPr>
              <a:t>HIGH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A8A28B-B70D-ABC6-F740-EF424F0F807F}"/>
              </a:ext>
            </a:extLst>
          </p:cNvPr>
          <p:cNvSpPr txBox="1"/>
          <p:nvPr/>
        </p:nvSpPr>
        <p:spPr>
          <a:xfrm>
            <a:off x="7581900" y="27559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500" b="1">
                <a:solidFill>
                  <a:srgbClr val="F5F7FB"/>
                </a:solidFill>
                <a:latin typeface="Aptos" panose="020B0004020202020204" pitchFamily="34" charset="0"/>
              </a:rPr>
              <a:t>Permission change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7B8DE4-08F9-C16F-266B-5B48EA24B595}"/>
              </a:ext>
            </a:extLst>
          </p:cNvPr>
          <p:cNvSpPr txBox="1"/>
          <p:nvPr/>
        </p:nvSpPr>
        <p:spPr>
          <a:xfrm>
            <a:off x="7581900" y="31115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100">
                <a:solidFill>
                  <a:srgbClr val="AEBBD0"/>
                </a:solidFill>
                <a:latin typeface="Aptos" panose="020B0004020202020204" pitchFamily="34" charset="0"/>
              </a:rPr>
              <a:t>Profile / PermissionSet / group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2551CAA-F39B-BFB9-47B7-BA8C0415DC75}"/>
              </a:ext>
            </a:extLst>
          </p:cNvPr>
          <p:cNvSpPr/>
          <p:nvPr/>
        </p:nvSpPr>
        <p:spPr>
          <a:xfrm>
            <a:off x="711200" y="3784600"/>
            <a:ext cx="5105400" cy="9144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E62BAE-558D-06C6-E784-C79AF9385CB4}"/>
              </a:ext>
            </a:extLst>
          </p:cNvPr>
          <p:cNvSpPr txBox="1"/>
          <p:nvPr/>
        </p:nvSpPr>
        <p:spPr>
          <a:xfrm>
            <a:off x="901700" y="39370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900" b="1">
                <a:solidFill>
                  <a:srgbClr val="F2B75D"/>
                </a:solidFill>
                <a:latin typeface="Aptos" panose="020B0004020202020204" pitchFamily="34" charset="0"/>
              </a:rPr>
              <a:t>MEDIUM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6B71CE-25E3-9FC5-E906-CA7223483962}"/>
              </a:ext>
            </a:extLst>
          </p:cNvPr>
          <p:cNvSpPr txBox="1"/>
          <p:nvPr/>
        </p:nvSpPr>
        <p:spPr>
          <a:xfrm>
            <a:off x="2120900" y="39116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500" b="1">
                <a:solidFill>
                  <a:srgbClr val="F5F7FB"/>
                </a:solidFill>
                <a:latin typeface="Aptos" panose="020B0004020202020204" pitchFamily="34" charset="0"/>
              </a:rPr>
              <a:t>Active Flow change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C8F616-649F-CED9-FCBF-3D3008129C10}"/>
              </a:ext>
            </a:extLst>
          </p:cNvPr>
          <p:cNvSpPr txBox="1"/>
          <p:nvPr/>
        </p:nvSpPr>
        <p:spPr>
          <a:xfrm>
            <a:off x="2120900" y="42672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100">
                <a:solidFill>
                  <a:srgbClr val="AEBBD0"/>
                </a:solidFill>
                <a:latin typeface="Aptos" panose="020B0004020202020204" pitchFamily="34" charset="0"/>
              </a:rPr>
              <a:t>Flow marked active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466061F-B355-A289-7AA1-E311D6BDC965}"/>
              </a:ext>
            </a:extLst>
          </p:cNvPr>
          <p:cNvSpPr/>
          <p:nvPr/>
        </p:nvSpPr>
        <p:spPr>
          <a:xfrm>
            <a:off x="6172200" y="3784600"/>
            <a:ext cx="5105400" cy="9144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B61396-90AB-38C9-A667-A379624A4DDA}"/>
              </a:ext>
            </a:extLst>
          </p:cNvPr>
          <p:cNvSpPr txBox="1"/>
          <p:nvPr/>
        </p:nvSpPr>
        <p:spPr>
          <a:xfrm>
            <a:off x="6362700" y="39370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900" b="1">
                <a:solidFill>
                  <a:srgbClr val="FF7A78"/>
                </a:solidFill>
                <a:latin typeface="Aptos" panose="020B0004020202020204" pitchFamily="34" charset="0"/>
              </a:rPr>
              <a:t>HIGH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EACCA2-C232-6FBE-6F44-3B9B3E980E9A}"/>
              </a:ext>
            </a:extLst>
          </p:cNvPr>
          <p:cNvSpPr txBox="1"/>
          <p:nvPr/>
        </p:nvSpPr>
        <p:spPr>
          <a:xfrm>
            <a:off x="7581900" y="39116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500" b="1">
                <a:solidFill>
                  <a:srgbClr val="F5F7FB"/>
                </a:solidFill>
                <a:latin typeface="Aptos" panose="020B0004020202020204" pitchFamily="34" charset="0"/>
              </a:rPr>
              <a:t>Apex without test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B67ECA-538C-70DD-34F1-644F2AF5A4DB}"/>
              </a:ext>
            </a:extLst>
          </p:cNvPr>
          <p:cNvSpPr txBox="1"/>
          <p:nvPr/>
        </p:nvSpPr>
        <p:spPr>
          <a:xfrm>
            <a:off x="7581900" y="42672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100">
                <a:solidFill>
                  <a:srgbClr val="AEBBD0"/>
                </a:solidFill>
                <a:latin typeface="Aptos" panose="020B0004020202020204" pitchFamily="34" charset="0"/>
              </a:rPr>
              <a:t>No matching test or testsFor link</a:t>
            </a:r>
            <a:endParaRPr lang="en-IN" sz="1100">
              <a:solidFill>
                <a:srgbClr val="AEBBD0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57A46C7-720B-059E-0E9A-3480796527D4}"/>
              </a:ext>
            </a:extLst>
          </p:cNvPr>
          <p:cNvSpPr/>
          <p:nvPr/>
        </p:nvSpPr>
        <p:spPr>
          <a:xfrm>
            <a:off x="711200" y="4940300"/>
            <a:ext cx="5105400" cy="9144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A3BCEC-8E84-E7A3-DD27-44401415493A}"/>
              </a:ext>
            </a:extLst>
          </p:cNvPr>
          <p:cNvSpPr txBox="1"/>
          <p:nvPr/>
        </p:nvSpPr>
        <p:spPr>
          <a:xfrm>
            <a:off x="901700" y="5092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900" b="1">
                <a:solidFill>
                  <a:srgbClr val="FF7A78"/>
                </a:solidFill>
                <a:latin typeface="Aptos" panose="020B0004020202020204" pitchFamily="34" charset="0"/>
              </a:rPr>
              <a:t>CRITICAL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8F7D84-D00A-426A-EBC1-23E7984FCDF9}"/>
              </a:ext>
            </a:extLst>
          </p:cNvPr>
          <p:cNvSpPr txBox="1"/>
          <p:nvPr/>
        </p:nvSpPr>
        <p:spPr>
          <a:xfrm>
            <a:off x="2120900" y="50673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500" b="1">
                <a:solidFill>
                  <a:srgbClr val="F5F7FB"/>
                </a:solidFill>
                <a:latin typeface="Aptos" panose="020B0004020202020204" pitchFamily="34" charset="0"/>
              </a:rPr>
              <a:t>Tests not ready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CFEDEB-D133-8AB0-7953-BAF45647BA4B}"/>
              </a:ext>
            </a:extLst>
          </p:cNvPr>
          <p:cNvSpPr txBox="1"/>
          <p:nvPr/>
        </p:nvSpPr>
        <p:spPr>
          <a:xfrm>
            <a:off x="2120900" y="54229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100">
                <a:solidFill>
                  <a:srgbClr val="AEBBD0"/>
                </a:solidFill>
                <a:latin typeface="Aptos" panose="020B0004020202020204" pitchFamily="34" charset="0"/>
              </a:rPr>
              <a:t>Failed or non-passing run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53DC820-34F6-C817-30AC-0EA93DB55D9F}"/>
              </a:ext>
            </a:extLst>
          </p:cNvPr>
          <p:cNvSpPr/>
          <p:nvPr/>
        </p:nvSpPr>
        <p:spPr>
          <a:xfrm>
            <a:off x="6172200" y="4940300"/>
            <a:ext cx="5105400" cy="9144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B2E53E-77D8-C3CC-C0A6-192A8D782508}"/>
              </a:ext>
            </a:extLst>
          </p:cNvPr>
          <p:cNvSpPr txBox="1"/>
          <p:nvPr/>
        </p:nvSpPr>
        <p:spPr>
          <a:xfrm>
            <a:off x="6362700" y="5092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900" b="1">
                <a:solidFill>
                  <a:srgbClr val="F2B75D"/>
                </a:solidFill>
                <a:latin typeface="Aptos" panose="020B0004020202020204" pitchFamily="34" charset="0"/>
              </a:rPr>
              <a:t>MEDIUM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1E24B3-71B4-49C5-0DD7-559211792260}"/>
              </a:ext>
            </a:extLst>
          </p:cNvPr>
          <p:cNvSpPr txBox="1"/>
          <p:nvPr/>
        </p:nvSpPr>
        <p:spPr>
          <a:xfrm>
            <a:off x="7581900" y="50673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500" b="1">
                <a:solidFill>
                  <a:srgbClr val="F5F7FB"/>
                </a:solidFill>
                <a:latin typeface="Aptos" panose="020B0004020202020204" pitchFamily="34" charset="0"/>
              </a:rPr>
              <a:t>Test results missing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76FE5F-72C5-65C6-40D3-6DC942AD7355}"/>
              </a:ext>
            </a:extLst>
          </p:cNvPr>
          <p:cNvSpPr txBox="1"/>
          <p:nvPr/>
        </p:nvSpPr>
        <p:spPr>
          <a:xfrm>
            <a:off x="7581900" y="54229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100">
                <a:solidFill>
                  <a:srgbClr val="AEBBD0"/>
                </a:solidFill>
                <a:latin typeface="Aptos" panose="020B0004020202020204" pitchFamily="34" charset="0"/>
              </a:rPr>
              <a:t>Absent or incomplete test data</a:t>
            </a:r>
            <a:endParaRPr lang="en-IN" sz="1100">
              <a:solidFill>
                <a:srgbClr val="AEBBD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777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7E4B42-D656-2380-C6BD-FB861595DE69}"/>
              </a:ext>
            </a:extLst>
          </p:cNvPr>
          <p:cNvSpPr txBox="1"/>
          <p:nvPr/>
        </p:nvSpPr>
        <p:spPr>
          <a:xfrm>
            <a:off x="711200" y="431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000" b="1">
                <a:solidFill>
                  <a:srgbClr val="38D6C2"/>
                </a:solidFill>
                <a:latin typeface="Aptos" panose="020B0004020202020204" pitchFamily="34" charset="0"/>
              </a:rPr>
              <a:t>WORKED EXAMPLE  /  PROMO-1042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D474A8-4258-9CDF-5980-8CA15D45A165}"/>
              </a:ext>
            </a:extLst>
          </p:cNvPr>
          <p:cNvSpPr txBox="1"/>
          <p:nvPr/>
        </p:nvSpPr>
        <p:spPr>
          <a:xfrm>
            <a:off x="7112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000" b="1" dirty="0">
                <a:latin typeface="Aptos" panose="020B0004020202020204" pitchFamily="34" charset="0"/>
              </a:rPr>
              <a:t>Passing tests. Still HOLD.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DB8FAE-0B87-695F-E3BD-B983C635AE4F}"/>
              </a:ext>
            </a:extLst>
          </p:cNvPr>
          <p:cNvSpPr txBox="1"/>
          <p:nvPr/>
        </p:nvSpPr>
        <p:spPr>
          <a:xfrm>
            <a:off x="711200" y="1676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Aptos" panose="020B0004020202020204" pitchFamily="34" charset="0"/>
              </a:rPr>
              <a:t>Customer onboarding updates  ·  UAT → Production  ·  sample snapshot from the repository</a:t>
            </a:r>
            <a:endParaRPr lang="en-IN" sz="1400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DB2720-201F-F3A7-410E-49A7DB15DD0F}"/>
              </a:ext>
            </a:extLst>
          </p:cNvPr>
          <p:cNvSpPr/>
          <p:nvPr/>
        </p:nvSpPr>
        <p:spPr>
          <a:xfrm>
            <a:off x="711200" y="6413500"/>
            <a:ext cx="10769600" cy="12700"/>
          </a:xfrm>
          <a:prstGeom prst="rect">
            <a:avLst/>
          </a:prstGeom>
          <a:solidFill>
            <a:srgbClr val="3442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94530C-FAE9-0FA8-CD8D-3E3AF17DAF06}"/>
              </a:ext>
            </a:extLst>
          </p:cNvPr>
          <p:cNvSpPr txBox="1"/>
          <p:nvPr/>
        </p:nvSpPr>
        <p:spPr>
          <a:xfrm>
            <a:off x="711200" y="65278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800" b="1">
                <a:solidFill>
                  <a:srgbClr val="7F91AA"/>
                </a:solidFill>
                <a:latin typeface="Aptos" panose="020B0004020202020204" pitchFamily="34" charset="0"/>
              </a:rPr>
              <a:t>AGENTIA PROMO BRIEF  /  PROMOTION READINESS</a:t>
            </a:r>
            <a:endParaRPr lang="en-IN" sz="800" b="1">
              <a:solidFill>
                <a:srgbClr val="7F91AA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086C5C-6882-696B-C20A-678A107B8DFE}"/>
              </a:ext>
            </a:extLst>
          </p:cNvPr>
          <p:cNvSpPr txBox="1"/>
          <p:nvPr/>
        </p:nvSpPr>
        <p:spPr>
          <a:xfrm>
            <a:off x="11049000" y="65024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IN" sz="900" b="1">
                <a:solidFill>
                  <a:srgbClr val="7F91AA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5C0C8C-912D-049A-4110-041B1D1E7A79}"/>
              </a:ext>
            </a:extLst>
          </p:cNvPr>
          <p:cNvSpPr/>
          <p:nvPr/>
        </p:nvSpPr>
        <p:spPr>
          <a:xfrm>
            <a:off x="711200" y="2679700"/>
            <a:ext cx="3149600" cy="2997200"/>
          </a:xfrm>
          <a:prstGeom prst="roundRect">
            <a:avLst/>
          </a:prstGeom>
          <a:solidFill>
            <a:srgbClr val="2A26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845C99-510E-36FE-29A1-764C34494FB8}"/>
              </a:ext>
            </a:extLst>
          </p:cNvPr>
          <p:cNvSpPr txBox="1"/>
          <p:nvPr/>
        </p:nvSpPr>
        <p:spPr>
          <a:xfrm>
            <a:off x="1041400" y="31369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4200" b="1">
                <a:solidFill>
                  <a:srgbClr val="FF7A78"/>
                </a:solidFill>
                <a:latin typeface="Aptos" panose="020B0004020202020204" pitchFamily="34" charset="0"/>
              </a:rPr>
              <a:t>HOLD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A8901F-1078-F0EC-23ED-7C9B94501967}"/>
              </a:ext>
            </a:extLst>
          </p:cNvPr>
          <p:cNvSpPr txBox="1"/>
          <p:nvPr/>
        </p:nvSpPr>
        <p:spPr>
          <a:xfrm>
            <a:off x="1054100" y="41783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000" b="1">
                <a:solidFill>
                  <a:srgbClr val="AEBBD0"/>
                </a:solidFill>
                <a:latin typeface="Aptos" panose="020B0004020202020204" pitchFamily="34" charset="0"/>
              </a:rPr>
              <a:t>RISK SCORE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D52CAE-4A45-0353-B920-01025B00445C}"/>
              </a:ext>
            </a:extLst>
          </p:cNvPr>
          <p:cNvSpPr txBox="1"/>
          <p:nvPr/>
        </p:nvSpPr>
        <p:spPr>
          <a:xfrm>
            <a:off x="1041400" y="44323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600" b="1">
                <a:solidFill>
                  <a:srgbClr val="F5F7FB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A11695-626A-E2EF-0E54-2238900641E1}"/>
              </a:ext>
            </a:extLst>
          </p:cNvPr>
          <p:cNvSpPr txBox="1"/>
          <p:nvPr/>
        </p:nvSpPr>
        <p:spPr>
          <a:xfrm>
            <a:off x="1054100" y="52070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200" b="1">
                <a:solidFill>
                  <a:srgbClr val="F2B75D"/>
                </a:solidFill>
                <a:latin typeface="Aptos" panose="020B0004020202020204" pitchFamily="34" charset="0"/>
              </a:rPr>
              <a:t>Hold threshold: 8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C454362-75DB-07E1-372E-72C7DFE47DE4}"/>
              </a:ext>
            </a:extLst>
          </p:cNvPr>
          <p:cNvSpPr/>
          <p:nvPr/>
        </p:nvSpPr>
        <p:spPr>
          <a:xfrm>
            <a:off x="4178300" y="2679700"/>
            <a:ext cx="7302500" cy="11811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30A6BB-AF26-7F28-3825-BEBDEBBC73E3}"/>
              </a:ext>
            </a:extLst>
          </p:cNvPr>
          <p:cNvSpPr/>
          <p:nvPr/>
        </p:nvSpPr>
        <p:spPr>
          <a:xfrm>
            <a:off x="4178300" y="2679700"/>
            <a:ext cx="63500" cy="1181100"/>
          </a:xfrm>
          <a:prstGeom prst="rect">
            <a:avLst/>
          </a:prstGeom>
          <a:solidFill>
            <a:srgbClr val="FF7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EAF932-BEC7-5455-7352-FA85C2BC77D7}"/>
              </a:ext>
            </a:extLst>
          </p:cNvPr>
          <p:cNvSpPr txBox="1"/>
          <p:nvPr/>
        </p:nvSpPr>
        <p:spPr>
          <a:xfrm>
            <a:off x="4432300" y="2908300"/>
            <a:ext cx="679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b="1">
                <a:solidFill>
                  <a:srgbClr val="F5F7FB"/>
                </a:solidFill>
                <a:latin typeface="Aptos" panose="020B0004020202020204" pitchFamily="34" charset="0"/>
              </a:rPr>
              <a:t>HIGH  /  PermissionSet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12AE00-44FA-583B-1450-53F020FADD8E}"/>
              </a:ext>
            </a:extLst>
          </p:cNvPr>
          <p:cNvSpPr txBox="1"/>
          <p:nvPr/>
        </p:nvSpPr>
        <p:spPr>
          <a:xfrm>
            <a:off x="4432300" y="3378200"/>
            <a:ext cx="679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B8C4D7"/>
                </a:solidFill>
                <a:latin typeface="Aptos" panose="020B0004020202020204" pitchFamily="34" charset="0"/>
              </a:rPr>
              <a:t>Customer_Success_Access  ·  weight 7
Access changes can grant unintended privileges or disrupt users.</a:t>
            </a:r>
            <a:endParaRPr lang="en-IN" sz="1300">
              <a:solidFill>
                <a:srgbClr val="B8C4D7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4F54DE0-8F62-A9B2-3F5C-F610402EEA07}"/>
              </a:ext>
            </a:extLst>
          </p:cNvPr>
          <p:cNvSpPr/>
          <p:nvPr/>
        </p:nvSpPr>
        <p:spPr>
          <a:xfrm>
            <a:off x="4178300" y="4076700"/>
            <a:ext cx="7302500" cy="11811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77DABD-D19A-5076-E1FF-14C39916EE2C}"/>
              </a:ext>
            </a:extLst>
          </p:cNvPr>
          <p:cNvSpPr/>
          <p:nvPr/>
        </p:nvSpPr>
        <p:spPr>
          <a:xfrm>
            <a:off x="4178300" y="4076700"/>
            <a:ext cx="63500" cy="1181100"/>
          </a:xfrm>
          <a:prstGeom prst="rect">
            <a:avLst/>
          </a:prstGeom>
          <a:solidFill>
            <a:srgbClr val="F2B7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7034BA-F5C3-B712-81A2-E0005EE7AEE1}"/>
              </a:ext>
            </a:extLst>
          </p:cNvPr>
          <p:cNvSpPr txBox="1"/>
          <p:nvPr/>
        </p:nvSpPr>
        <p:spPr>
          <a:xfrm>
            <a:off x="4432300" y="4305300"/>
            <a:ext cx="679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b="1">
                <a:solidFill>
                  <a:srgbClr val="F5F7FB"/>
                </a:solidFill>
                <a:latin typeface="Aptos" panose="020B0004020202020204" pitchFamily="34" charset="0"/>
              </a:rPr>
              <a:t>MEDIUM  /  Active Flow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2D4A0D-B0C1-EC2B-60F6-60607476635F}"/>
              </a:ext>
            </a:extLst>
          </p:cNvPr>
          <p:cNvSpPr txBox="1"/>
          <p:nvPr/>
        </p:nvSpPr>
        <p:spPr>
          <a:xfrm>
            <a:off x="4432300" y="4775200"/>
            <a:ext cx="679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B8C4D7"/>
                </a:solidFill>
                <a:latin typeface="Aptos" panose="020B0004020202020204" pitchFamily="34" charset="0"/>
              </a:rPr>
              <a:t>Customer_Onboarding  ·  weight 4
Active automation can change live processing and user-facing behavior.</a:t>
            </a:r>
            <a:endParaRPr lang="en-IN" sz="1300">
              <a:solidFill>
                <a:srgbClr val="B8C4D7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C3DADEA-92CD-93DF-904B-9F44BA04E7BF}"/>
              </a:ext>
            </a:extLst>
          </p:cNvPr>
          <p:cNvSpPr/>
          <p:nvPr/>
        </p:nvSpPr>
        <p:spPr>
          <a:xfrm>
            <a:off x="4178300" y="5486400"/>
            <a:ext cx="7302500" cy="431800"/>
          </a:xfrm>
          <a:prstGeom prst="roundRect">
            <a:avLst/>
          </a:prstGeom>
          <a:solidFill>
            <a:srgbClr val="1C2F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65C28C-B676-7CAA-3B12-D3569B342F37}"/>
              </a:ext>
            </a:extLst>
          </p:cNvPr>
          <p:cNvSpPr txBox="1"/>
          <p:nvPr/>
        </p:nvSpPr>
        <p:spPr>
          <a:xfrm>
            <a:off x="4368800" y="55880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200" b="1">
                <a:solidFill>
                  <a:srgbClr val="38D6C2"/>
                </a:solidFill>
                <a:latin typeface="Aptos" panose="020B0004020202020204" pitchFamily="34" charset="0"/>
              </a:rPr>
              <a:t>Tests: 128 passed  ·  0 failed  ·  test success does not erase metadata risk.</a:t>
            </a:r>
            <a:endParaRPr lang="en-IN" sz="1200" b="1">
              <a:solidFill>
                <a:srgbClr val="38D6C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567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EA7966-C1A3-4E83-A170-BC835792E3C2}"/>
              </a:ext>
            </a:extLst>
          </p:cNvPr>
          <p:cNvSpPr txBox="1"/>
          <p:nvPr/>
        </p:nvSpPr>
        <p:spPr>
          <a:xfrm>
            <a:off x="711200" y="431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000" b="1">
                <a:solidFill>
                  <a:srgbClr val="38D6C2"/>
                </a:solidFill>
                <a:latin typeface="Aptos" panose="020B0004020202020204" pitchFamily="34" charset="0"/>
              </a:rPr>
              <a:t>TRUST BOUNDARIES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9E7FE-5476-8E49-00C0-E34D6A551F85}"/>
              </a:ext>
            </a:extLst>
          </p:cNvPr>
          <p:cNvSpPr txBox="1"/>
          <p:nvPr/>
        </p:nvSpPr>
        <p:spPr>
          <a:xfrm>
            <a:off x="7112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dirty="0">
                <a:latin typeface="Aptos" panose="020B0004020202020204" pitchFamily="34" charset="0"/>
              </a:rPr>
              <a:t>A decision aid—not a deployment authority.</a:t>
            </a:r>
            <a:endParaRPr lang="en-IN" sz="3000" b="1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83043E-949C-7263-E51C-EEFFF301ACF9}"/>
              </a:ext>
            </a:extLst>
          </p:cNvPr>
          <p:cNvSpPr txBox="1"/>
          <p:nvPr/>
        </p:nvSpPr>
        <p:spPr>
          <a:xfrm>
            <a:off x="711200" y="1676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Aptos" panose="020B0004020202020204" pitchFamily="34" charset="0"/>
              </a:rPr>
              <a:t>The value is in showing what was checked, what was found, and what remains unknown.</a:t>
            </a:r>
            <a:endParaRPr lang="en-IN" sz="1400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CBF31C-FF38-A181-E878-178A69BB144D}"/>
              </a:ext>
            </a:extLst>
          </p:cNvPr>
          <p:cNvSpPr/>
          <p:nvPr/>
        </p:nvSpPr>
        <p:spPr>
          <a:xfrm>
            <a:off x="711200" y="6413500"/>
            <a:ext cx="10769600" cy="12700"/>
          </a:xfrm>
          <a:prstGeom prst="rect">
            <a:avLst/>
          </a:prstGeom>
          <a:solidFill>
            <a:srgbClr val="3442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56046-39F8-CCEC-33B0-84DE44C3A9E9}"/>
              </a:ext>
            </a:extLst>
          </p:cNvPr>
          <p:cNvSpPr txBox="1"/>
          <p:nvPr/>
        </p:nvSpPr>
        <p:spPr>
          <a:xfrm>
            <a:off x="711200" y="65278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800" b="1">
                <a:solidFill>
                  <a:srgbClr val="7F91AA"/>
                </a:solidFill>
                <a:latin typeface="Aptos" panose="020B0004020202020204" pitchFamily="34" charset="0"/>
              </a:rPr>
              <a:t>AGENTIA PROMO BRIEF  /  PROMOTION READINESS</a:t>
            </a:r>
            <a:endParaRPr lang="en-IN" sz="800" b="1">
              <a:solidFill>
                <a:srgbClr val="7F91AA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18D17E-57EC-8CB0-2545-CE6E14B7A7FB}"/>
              </a:ext>
            </a:extLst>
          </p:cNvPr>
          <p:cNvSpPr txBox="1"/>
          <p:nvPr/>
        </p:nvSpPr>
        <p:spPr>
          <a:xfrm>
            <a:off x="11049000" y="65024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IN" sz="900" b="1">
                <a:solidFill>
                  <a:srgbClr val="7F91AA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F157A5-9909-0FC4-6CA4-563A114CCC74}"/>
              </a:ext>
            </a:extLst>
          </p:cNvPr>
          <p:cNvSpPr/>
          <p:nvPr/>
        </p:nvSpPr>
        <p:spPr>
          <a:xfrm>
            <a:off x="711200" y="2679700"/>
            <a:ext cx="3327400" cy="23622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935B26-CC90-7BCF-DDF6-1345F126DE74}"/>
              </a:ext>
            </a:extLst>
          </p:cNvPr>
          <p:cNvSpPr/>
          <p:nvPr/>
        </p:nvSpPr>
        <p:spPr>
          <a:xfrm>
            <a:off x="711200" y="2679700"/>
            <a:ext cx="63500" cy="2362200"/>
          </a:xfrm>
          <a:prstGeom prst="rect">
            <a:avLst/>
          </a:prstGeom>
          <a:solidFill>
            <a:srgbClr val="38D6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64697B-41CE-E5E8-E28B-E01988418C70}"/>
              </a:ext>
            </a:extLst>
          </p:cNvPr>
          <p:cNvSpPr txBox="1"/>
          <p:nvPr/>
        </p:nvSpPr>
        <p:spPr>
          <a:xfrm>
            <a:off x="965200" y="2908300"/>
            <a:ext cx="2819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b="1">
                <a:solidFill>
                  <a:srgbClr val="F5F7FB"/>
                </a:solidFill>
                <a:latin typeface="Aptos" panose="020B0004020202020204" pitchFamily="34" charset="0"/>
              </a:rPr>
              <a:t>GO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7EDD8E-ACFA-4D60-286A-130E3E101953}"/>
              </a:ext>
            </a:extLst>
          </p:cNvPr>
          <p:cNvSpPr txBox="1"/>
          <p:nvPr/>
        </p:nvSpPr>
        <p:spPr>
          <a:xfrm>
            <a:off x="965200" y="3378200"/>
            <a:ext cx="2819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B8C4D7"/>
                </a:solidFill>
                <a:latin typeface="Aptos" panose="020B0004020202020204" pitchFamily="34" charset="0"/>
              </a:rPr>
              <a:t>No configured risk flags found. Continue normal release controls; this is not a safety guarantee.</a:t>
            </a:r>
            <a:endParaRPr lang="en-IN" sz="1300">
              <a:solidFill>
                <a:srgbClr val="B8C4D7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E15097-D83B-6158-D7A0-9E85DCB76038}"/>
              </a:ext>
            </a:extLst>
          </p:cNvPr>
          <p:cNvSpPr/>
          <p:nvPr/>
        </p:nvSpPr>
        <p:spPr>
          <a:xfrm>
            <a:off x="4432300" y="2679700"/>
            <a:ext cx="3327400" cy="23622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B672B2-A027-34C1-1E4D-ACADAE7C0A66}"/>
              </a:ext>
            </a:extLst>
          </p:cNvPr>
          <p:cNvSpPr/>
          <p:nvPr/>
        </p:nvSpPr>
        <p:spPr>
          <a:xfrm>
            <a:off x="4432300" y="2679700"/>
            <a:ext cx="63500" cy="2362200"/>
          </a:xfrm>
          <a:prstGeom prst="rect">
            <a:avLst/>
          </a:prstGeom>
          <a:solidFill>
            <a:srgbClr val="F2B7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8D0406-BFE8-C72D-FF01-5E2312F60985}"/>
              </a:ext>
            </a:extLst>
          </p:cNvPr>
          <p:cNvSpPr txBox="1"/>
          <p:nvPr/>
        </p:nvSpPr>
        <p:spPr>
          <a:xfrm>
            <a:off x="4686300" y="2908300"/>
            <a:ext cx="2819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b="1">
                <a:solidFill>
                  <a:srgbClr val="F5F7FB"/>
                </a:solidFill>
                <a:latin typeface="Aptos" panose="020B0004020202020204" pitchFamily="34" charset="0"/>
              </a:rPr>
              <a:t>REVIEW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24E60D-7060-DAAC-15E4-332EC153A4F2}"/>
              </a:ext>
            </a:extLst>
          </p:cNvPr>
          <p:cNvSpPr txBox="1"/>
          <p:nvPr/>
        </p:nvSpPr>
        <p:spPr>
          <a:xfrm>
            <a:off x="4686300" y="3378200"/>
            <a:ext cx="2819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B8C4D7"/>
                </a:solidFill>
                <a:latin typeface="Aptos" panose="020B0004020202020204" pitchFamily="34" charset="0"/>
              </a:rPr>
              <a:t>A review-level signal or incomplete evidence needs a responsible human to inspect it.</a:t>
            </a:r>
            <a:endParaRPr lang="en-IN" sz="1300">
              <a:solidFill>
                <a:srgbClr val="B8C4D7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46D5F9A-B09A-69C8-4906-D5E34E3246E7}"/>
              </a:ext>
            </a:extLst>
          </p:cNvPr>
          <p:cNvSpPr/>
          <p:nvPr/>
        </p:nvSpPr>
        <p:spPr>
          <a:xfrm>
            <a:off x="8153400" y="2679700"/>
            <a:ext cx="3327400" cy="23622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EC9960-8CE5-84F5-159B-60E25534AF54}"/>
              </a:ext>
            </a:extLst>
          </p:cNvPr>
          <p:cNvSpPr/>
          <p:nvPr/>
        </p:nvSpPr>
        <p:spPr>
          <a:xfrm>
            <a:off x="8153400" y="2679700"/>
            <a:ext cx="63500" cy="2362200"/>
          </a:xfrm>
          <a:prstGeom prst="rect">
            <a:avLst/>
          </a:prstGeom>
          <a:solidFill>
            <a:srgbClr val="FF7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737643-0DA0-B8C4-77AE-A10858D253E3}"/>
              </a:ext>
            </a:extLst>
          </p:cNvPr>
          <p:cNvSpPr txBox="1"/>
          <p:nvPr/>
        </p:nvSpPr>
        <p:spPr>
          <a:xfrm>
            <a:off x="8407400" y="2908300"/>
            <a:ext cx="2819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b="1">
                <a:solidFill>
                  <a:srgbClr val="F5F7FB"/>
                </a:solidFill>
                <a:latin typeface="Aptos" panose="020B0004020202020204" pitchFamily="34" charset="0"/>
              </a:rPr>
              <a:t>HOLD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757B34-ED5E-88E5-D965-3F16338FFC98}"/>
              </a:ext>
            </a:extLst>
          </p:cNvPr>
          <p:cNvSpPr txBox="1"/>
          <p:nvPr/>
        </p:nvSpPr>
        <p:spPr>
          <a:xfrm>
            <a:off x="8407400" y="3378200"/>
            <a:ext cx="2819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B8C4D7"/>
                </a:solidFill>
                <a:latin typeface="Aptos" panose="020B0004020202020204" pitchFamily="34" charset="0"/>
              </a:rPr>
              <a:t>A critical/high finding or configured threshold is reached. Resolve blocking evidence first.</a:t>
            </a:r>
            <a:endParaRPr lang="en-IN" sz="1300">
              <a:solidFill>
                <a:srgbClr val="B8C4D7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C7F5BC-4968-2CC4-0AF0-459D1BF67D95}"/>
              </a:ext>
            </a:extLst>
          </p:cNvPr>
          <p:cNvSpPr txBox="1"/>
          <p:nvPr/>
        </p:nvSpPr>
        <p:spPr>
          <a:xfrm>
            <a:off x="711200" y="54356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400" b="1" dirty="0">
                <a:latin typeface="Aptos" panose="020B0004020202020204" pitchFamily="34" charset="0"/>
              </a:rPr>
              <a:t>Current boundary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54B3E7-62D9-6BB3-69D6-5FB093A5C777}"/>
              </a:ext>
            </a:extLst>
          </p:cNvPr>
          <p:cNvSpPr txBox="1"/>
          <p:nvPr/>
        </p:nvSpPr>
        <p:spPr>
          <a:xfrm>
            <a:off x="711200" y="58293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200">
                <a:solidFill>
                  <a:schemeClr val="accent1"/>
                </a:solidFill>
                <a:latin typeface="Aptos" panose="020B0004020202020204" pitchFamily="34" charset="0"/>
              </a:rPr>
              <a:t>Local JSON in  ·  Markdown / JSON out  ·  no live Agentia, Copado, Salesforce, or pipeline connector  ·  no deployment action</a:t>
            </a:r>
            <a:endParaRPr lang="en-IN" sz="120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648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E499AF-814B-443A-C453-1299543EB6C3}"/>
              </a:ext>
            </a:extLst>
          </p:cNvPr>
          <p:cNvSpPr txBox="1"/>
          <p:nvPr/>
        </p:nvSpPr>
        <p:spPr>
          <a:xfrm>
            <a:off x="711200" y="431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000" b="1">
                <a:solidFill>
                  <a:srgbClr val="38D6C2"/>
                </a:solidFill>
                <a:latin typeface="Aptos" panose="020B0004020202020204" pitchFamily="34" charset="0"/>
              </a:rPr>
              <a:t>ADOPTION PATH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3EF7B0-517E-FE3B-9075-60F46278DEAC}"/>
              </a:ext>
            </a:extLst>
          </p:cNvPr>
          <p:cNvSpPr txBox="1"/>
          <p:nvPr/>
        </p:nvSpPr>
        <p:spPr>
          <a:xfrm>
            <a:off x="7112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dirty="0">
                <a:latin typeface="Aptos" panose="020B0004020202020204" pitchFamily="34" charset="0"/>
              </a:rPr>
              <a:t>Start with trusted data. Prove the guardrails. Then integrate.</a:t>
            </a:r>
            <a:endParaRPr lang="en-IN" sz="3000" b="1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0C6B0-DA32-FF14-FE38-5FFE41B8718B}"/>
              </a:ext>
            </a:extLst>
          </p:cNvPr>
          <p:cNvSpPr txBox="1"/>
          <p:nvPr/>
        </p:nvSpPr>
        <p:spPr>
          <a:xfrm>
            <a:off x="711200" y="1676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Aptos" panose="020B0004020202020204" pitchFamily="34" charset="0"/>
              </a:rPr>
              <a:t>Keep the deployment decision in the existing release approval workflow.</a:t>
            </a:r>
            <a:endParaRPr lang="en-IN" sz="1400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28EC3-F0D6-9851-5A91-FA0C9B1F5BE7}"/>
              </a:ext>
            </a:extLst>
          </p:cNvPr>
          <p:cNvSpPr/>
          <p:nvPr/>
        </p:nvSpPr>
        <p:spPr>
          <a:xfrm>
            <a:off x="711200" y="6413500"/>
            <a:ext cx="10769600" cy="12700"/>
          </a:xfrm>
          <a:prstGeom prst="rect">
            <a:avLst/>
          </a:prstGeom>
          <a:solidFill>
            <a:srgbClr val="3442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6464BA-ED8A-914B-75C6-69F061ADAD77}"/>
              </a:ext>
            </a:extLst>
          </p:cNvPr>
          <p:cNvSpPr txBox="1"/>
          <p:nvPr/>
        </p:nvSpPr>
        <p:spPr>
          <a:xfrm>
            <a:off x="711200" y="65278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800" b="1">
                <a:solidFill>
                  <a:srgbClr val="7F91AA"/>
                </a:solidFill>
                <a:latin typeface="Aptos" panose="020B0004020202020204" pitchFamily="34" charset="0"/>
              </a:rPr>
              <a:t>AGENTIA PROMO BRIEF  /  PROMOTION READINESS</a:t>
            </a:r>
            <a:endParaRPr lang="en-IN" sz="800" b="1">
              <a:solidFill>
                <a:srgbClr val="7F91AA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286CF-DDCA-D121-E136-5F680FB0DF1E}"/>
              </a:ext>
            </a:extLst>
          </p:cNvPr>
          <p:cNvSpPr txBox="1"/>
          <p:nvPr/>
        </p:nvSpPr>
        <p:spPr>
          <a:xfrm>
            <a:off x="11049000" y="65024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r"/>
            <a:r>
              <a:rPr lang="en-IN" sz="900" b="1">
                <a:solidFill>
                  <a:srgbClr val="7F91AA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7D78B5E-16E5-9C64-2B9E-FC47D38BC3FC}"/>
              </a:ext>
            </a:extLst>
          </p:cNvPr>
          <p:cNvSpPr/>
          <p:nvPr/>
        </p:nvSpPr>
        <p:spPr>
          <a:xfrm>
            <a:off x="736600" y="2628900"/>
            <a:ext cx="355600" cy="355600"/>
          </a:xfrm>
          <a:prstGeom prst="ellipse">
            <a:avLst/>
          </a:prstGeom>
          <a:solidFill>
            <a:srgbClr val="38D6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CEEC24-997B-F454-7DBB-1661BE769973}"/>
              </a:ext>
            </a:extLst>
          </p:cNvPr>
          <p:cNvSpPr txBox="1"/>
          <p:nvPr/>
        </p:nvSpPr>
        <p:spPr>
          <a:xfrm>
            <a:off x="736600" y="2692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IN" sz="1100" b="1">
                <a:solidFill>
                  <a:srgbClr val="101A2B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F1A16F-5599-4508-7A8B-98529FFBACC4}"/>
              </a:ext>
            </a:extLst>
          </p:cNvPr>
          <p:cNvSpPr txBox="1"/>
          <p:nvPr/>
        </p:nvSpPr>
        <p:spPr>
          <a:xfrm>
            <a:off x="1333500" y="25908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500" b="1" dirty="0">
                <a:latin typeface="Aptos" panose="020B0004020202020204" pitchFamily="34" charset="0"/>
              </a:rPr>
              <a:t>Verify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841D78-E75C-F50B-E014-666A68184F86}"/>
              </a:ext>
            </a:extLst>
          </p:cNvPr>
          <p:cNvSpPr txBox="1"/>
          <p:nvPr/>
        </p:nvSpPr>
        <p:spPr>
          <a:xfrm>
            <a:off x="3225800" y="2603500"/>
            <a:ext cx="779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300" dirty="0">
                <a:solidFill>
                  <a:schemeClr val="accent1"/>
                </a:solidFill>
                <a:latin typeface="Aptos" panose="020B0004020202020204" pitchFamily="34" charset="0"/>
              </a:rPr>
              <a:t>Use a documented, trusted export.</a:t>
            </a:r>
            <a:endParaRPr lang="en-IN" sz="1300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D36302-51B4-E13B-2674-B1B70791B822}"/>
              </a:ext>
            </a:extLst>
          </p:cNvPr>
          <p:cNvSpPr/>
          <p:nvPr/>
        </p:nvSpPr>
        <p:spPr>
          <a:xfrm>
            <a:off x="736600" y="3340100"/>
            <a:ext cx="355600" cy="355600"/>
          </a:xfrm>
          <a:prstGeom prst="ellipse">
            <a:avLst/>
          </a:prstGeom>
          <a:solidFill>
            <a:srgbClr val="38D6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955031-63A2-D90D-4054-FD42E18F7670}"/>
              </a:ext>
            </a:extLst>
          </p:cNvPr>
          <p:cNvSpPr txBox="1"/>
          <p:nvPr/>
        </p:nvSpPr>
        <p:spPr>
          <a:xfrm>
            <a:off x="736600" y="34036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IN" sz="1100" b="1">
                <a:solidFill>
                  <a:srgbClr val="101A2B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89D427-D10E-7627-FB43-7EEBBAEEDB06}"/>
              </a:ext>
            </a:extLst>
          </p:cNvPr>
          <p:cNvSpPr txBox="1"/>
          <p:nvPr/>
        </p:nvSpPr>
        <p:spPr>
          <a:xfrm>
            <a:off x="1333500" y="3302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500" b="1">
                <a:latin typeface="Aptos" panose="020B0004020202020204" pitchFamily="34" charset="0"/>
              </a:rPr>
              <a:t>Normalize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00F841-6A51-C3F4-60E5-F04D58D702F0}"/>
              </a:ext>
            </a:extLst>
          </p:cNvPr>
          <p:cNvSpPr txBox="1"/>
          <p:nvPr/>
        </p:nvSpPr>
        <p:spPr>
          <a:xfrm>
            <a:off x="3225800" y="3314700"/>
            <a:ext cx="779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300" dirty="0">
                <a:solidFill>
                  <a:schemeClr val="accent1"/>
                </a:solidFill>
                <a:latin typeface="Aptos" panose="020B0004020202020204" pitchFamily="34" charset="0"/>
              </a:rPr>
              <a:t>Map only verified fields into the JSON contract.</a:t>
            </a:r>
            <a:endParaRPr lang="en-IN" sz="1300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0A8DEE3-98AC-6A24-605A-EAA7217A0A48}"/>
              </a:ext>
            </a:extLst>
          </p:cNvPr>
          <p:cNvSpPr/>
          <p:nvPr/>
        </p:nvSpPr>
        <p:spPr>
          <a:xfrm>
            <a:off x="736600" y="4051300"/>
            <a:ext cx="355600" cy="355600"/>
          </a:xfrm>
          <a:prstGeom prst="ellipse">
            <a:avLst/>
          </a:prstGeom>
          <a:solidFill>
            <a:srgbClr val="38D6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0CB935-E6B6-2758-8947-23A2429260E6}"/>
              </a:ext>
            </a:extLst>
          </p:cNvPr>
          <p:cNvSpPr txBox="1"/>
          <p:nvPr/>
        </p:nvSpPr>
        <p:spPr>
          <a:xfrm>
            <a:off x="736600" y="41148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IN" sz="1100" b="1">
                <a:solidFill>
                  <a:srgbClr val="101A2B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D832F4-85A4-3250-17B5-1AB87D269C8E}"/>
              </a:ext>
            </a:extLst>
          </p:cNvPr>
          <p:cNvSpPr txBox="1"/>
          <p:nvPr/>
        </p:nvSpPr>
        <p:spPr>
          <a:xfrm>
            <a:off x="1333500" y="4013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500" b="1" dirty="0">
                <a:latin typeface="Aptos" panose="020B0004020202020204" pitchFamily="34" charset="0"/>
              </a:rPr>
              <a:t>Validate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7B08B6-D47C-AB1E-4A99-298A60F9E110}"/>
              </a:ext>
            </a:extLst>
          </p:cNvPr>
          <p:cNvSpPr txBox="1"/>
          <p:nvPr/>
        </p:nvSpPr>
        <p:spPr>
          <a:xfrm>
            <a:off x="3225800" y="4025900"/>
            <a:ext cx="779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300" dirty="0">
                <a:solidFill>
                  <a:schemeClr val="accent1"/>
                </a:solidFill>
                <a:latin typeface="Aptos" panose="020B0004020202020204" pitchFamily="34" charset="0"/>
              </a:rPr>
              <a:t>Test clean, risky, missing-data, and failure cases.</a:t>
            </a:r>
            <a:endParaRPr lang="en-IN" sz="1300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0AD9A1F-C14C-C063-9A9C-39773D90F28F}"/>
              </a:ext>
            </a:extLst>
          </p:cNvPr>
          <p:cNvSpPr/>
          <p:nvPr/>
        </p:nvSpPr>
        <p:spPr>
          <a:xfrm>
            <a:off x="736600" y="4762500"/>
            <a:ext cx="355600" cy="355600"/>
          </a:xfrm>
          <a:prstGeom prst="ellipse">
            <a:avLst/>
          </a:prstGeom>
          <a:solidFill>
            <a:srgbClr val="38D6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ECC57D-9F88-01B8-860F-9D3FD75E9058}"/>
              </a:ext>
            </a:extLst>
          </p:cNvPr>
          <p:cNvSpPr txBox="1"/>
          <p:nvPr/>
        </p:nvSpPr>
        <p:spPr>
          <a:xfrm>
            <a:off x="736600" y="4826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pPr algn="ctr"/>
            <a:r>
              <a:rPr lang="en-IN" sz="1100" b="1">
                <a:solidFill>
                  <a:srgbClr val="101A2B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6F0822-D452-9D7E-9F81-8A8354305EF3}"/>
              </a:ext>
            </a:extLst>
          </p:cNvPr>
          <p:cNvSpPr txBox="1"/>
          <p:nvPr/>
        </p:nvSpPr>
        <p:spPr>
          <a:xfrm>
            <a:off x="1333500" y="47244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IN" sz="1500" b="1" dirty="0">
                <a:latin typeface="Aptos" panose="020B0004020202020204" pitchFamily="34" charset="0"/>
              </a:rPr>
              <a:t>Operationalize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E802D9-9BDD-7EEE-A7F4-65578BA1D317}"/>
              </a:ext>
            </a:extLst>
          </p:cNvPr>
          <p:cNvSpPr txBox="1"/>
          <p:nvPr/>
        </p:nvSpPr>
        <p:spPr>
          <a:xfrm>
            <a:off x="3225800" y="4737100"/>
            <a:ext cx="779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300" dirty="0">
                <a:solidFill>
                  <a:schemeClr val="accent1"/>
                </a:solidFill>
                <a:latin typeface="Aptos" panose="020B0004020202020204" pitchFamily="34" charset="0"/>
              </a:rPr>
              <a:t>Run in a controlled runner; keep human approval.</a:t>
            </a:r>
            <a:endParaRPr lang="en-IN" sz="1300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106EE1E-F620-B7DA-B48C-813A7CA8E6DF}"/>
              </a:ext>
            </a:extLst>
          </p:cNvPr>
          <p:cNvSpPr/>
          <p:nvPr/>
        </p:nvSpPr>
        <p:spPr>
          <a:xfrm>
            <a:off x="711200" y="5562600"/>
            <a:ext cx="10769600" cy="558800"/>
          </a:xfrm>
          <a:prstGeom prst="roundRect">
            <a:avLst/>
          </a:prstGeom>
          <a:solidFill>
            <a:srgbClr val="1724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34CE3A-C847-029A-EA4D-08375DEDB6AC}"/>
              </a:ext>
            </a:extLst>
          </p:cNvPr>
          <p:cNvSpPr txBox="1"/>
          <p:nvPr/>
        </p:nvSpPr>
        <p:spPr>
          <a:xfrm>
            <a:off x="939800" y="57277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300" b="1" dirty="0">
                <a:solidFill>
                  <a:srgbClr val="38D6C2"/>
                </a:solidFill>
                <a:latin typeface="Aptos" panose="020B0004020202020204" pitchFamily="34" charset="0"/>
              </a:rPr>
              <a:t>promo-brief --input sample/</a:t>
            </a:r>
            <a:r>
              <a:rPr lang="en-US" sz="1300" b="1" dirty="0" err="1">
                <a:solidFill>
                  <a:srgbClr val="38D6C2"/>
                </a:solidFill>
                <a:latin typeface="Aptos" panose="020B0004020202020204" pitchFamily="34" charset="0"/>
              </a:rPr>
              <a:t>promotion.json</a:t>
            </a:r>
            <a:r>
              <a:rPr lang="en-US" sz="1300" b="1" dirty="0">
                <a:solidFill>
                  <a:srgbClr val="38D6C2"/>
                </a:solidFill>
                <a:latin typeface="Aptos" panose="020B0004020202020204" pitchFamily="34" charset="0"/>
              </a:rPr>
              <a:t> --format </a:t>
            </a:r>
            <a:r>
              <a:rPr lang="en-US" sz="1300" b="1" dirty="0" err="1">
                <a:solidFill>
                  <a:srgbClr val="38D6C2"/>
                </a:solidFill>
                <a:latin typeface="Aptos" panose="020B0004020202020204" pitchFamily="34" charset="0"/>
              </a:rPr>
              <a:t>json</a:t>
            </a:r>
            <a:endParaRPr lang="en-IN" sz="1300" b="1" dirty="0">
              <a:solidFill>
                <a:srgbClr val="38D6C2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B2515C-47EF-28CA-4563-5EDF52083043}"/>
              </a:ext>
            </a:extLst>
          </p:cNvPr>
          <p:cNvSpPr txBox="1"/>
          <p:nvPr/>
        </p:nvSpPr>
        <p:spPr>
          <a:xfrm>
            <a:off x="711200" y="6121400"/>
            <a:ext cx="10769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Aptos" panose="020B0004020202020204" pitchFamily="34" charset="0"/>
              </a:rPr>
              <a:t>Validate the contract and rules with release owners before production use.</a:t>
            </a:r>
            <a:endParaRPr lang="en-IN" sz="1000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39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720</Words>
  <Application>Microsoft Office PowerPoint</Application>
  <PresentationFormat>Widescreen</PresentationFormat>
  <Paragraphs>115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Subhankar Mishra</dc:creator>
  <cp:lastModifiedBy>Subhankar Mishra</cp:lastModifiedBy>
  <cp:revision>2</cp:revision>
  <dcterms:created xsi:type="dcterms:W3CDTF">2026-10-26T13:16:30Z</dcterms:created>
  <dcterms:modified xsi:type="dcterms:W3CDTF">2026-10-26T13:32:23Z</dcterms:modified>
</cp:coreProperties>
</file>